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Lato" panose="020F0502020204030203" pitchFamily="34" charset="0"/>
      <p:regular r:id="rId25"/>
      <p:bold r:id="rId26"/>
      <p:italic r:id="rId27"/>
      <p:boldItalic r:id="rId28"/>
    </p:embeddedFont>
    <p:embeddedFont>
      <p:font typeface="Poppins" panose="00000500000000000000" pitchFamily="2" charset="0"/>
      <p:regular r:id="rId29"/>
      <p:bold r:id="rId30"/>
      <p:italic r:id="rId31"/>
      <p:boldItalic r:id="rId32"/>
    </p:embeddedFont>
    <p:embeddedFont>
      <p:font typeface="Poppins SemiBold" panose="000007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7ECF497-6C0B-41B7-8775-31B366413254}">
  <a:tblStyle styleId="{67ECF497-6C0B-41B7-8775-31B36641325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4660"/>
  </p:normalViewPr>
  <p:slideViewPr>
    <p:cSldViewPr snapToGrid="0">
      <p:cViewPr varScale="1">
        <p:scale>
          <a:sx n="64" d="100"/>
          <a:sy n="64" d="100"/>
        </p:scale>
        <p:origin x="65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f2342141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g3f2342141f0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f2342141f0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g3f2342141f0_0_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7.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png"/><Relationship Id="rId7"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3.png"/><Relationship Id="rId9"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6800850" y="1799332"/>
            <a:ext cx="4629150" cy="3259335"/>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0" y="0"/>
            <a:ext cx="12192000" cy="6858000"/>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762000" y="2175559"/>
            <a:ext cx="3581400" cy="333375"/>
          </a:xfrm>
          <a:prstGeom prst="rect">
            <a:avLst/>
          </a:prstGeom>
          <a:noFill/>
          <a:ln>
            <a:noFill/>
          </a:ln>
        </p:spPr>
      </p:pic>
      <p:sp>
        <p:nvSpPr>
          <p:cNvPr id="88" name="Google Shape;88;p13"/>
          <p:cNvSpPr txBox="1"/>
          <p:nvPr/>
        </p:nvSpPr>
        <p:spPr>
          <a:xfrm>
            <a:off x="762000" y="2753171"/>
            <a:ext cx="594074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chemeClr val="bg1"/>
                </a:solidFill>
                <a:latin typeface="Poppins"/>
                <a:ea typeface="Poppins"/>
                <a:cs typeface="Poppins"/>
                <a:sym typeface="Poppins"/>
              </a:rPr>
              <a:t>Climate Resilience Alert System</a:t>
            </a:r>
            <a:endParaRPr dirty="0">
              <a:solidFill>
                <a:schemeClr val="bg1"/>
              </a:solidFill>
            </a:endParaRPr>
          </a:p>
        </p:txBody>
      </p:sp>
      <p:sp>
        <p:nvSpPr>
          <p:cNvPr id="89" name="Google Shape;89;p13"/>
          <p:cNvSpPr txBox="1"/>
          <p:nvPr/>
        </p:nvSpPr>
        <p:spPr>
          <a:xfrm>
            <a:off x="762000" y="3210371"/>
            <a:ext cx="56578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A7F3D0"/>
                </a:solidFill>
                <a:latin typeface="Lato"/>
                <a:ea typeface="Lato"/>
                <a:cs typeface="Lato"/>
                <a:sym typeface="Lato"/>
              </a:rPr>
              <a:t>An AI-powered early warning platform mapping extreme climate events in India to save lives, preserve agrarian livelihoods, and support proactive disaster management.</a:t>
            </a:r>
            <a:endParaRPr/>
          </a:p>
        </p:txBody>
      </p:sp>
      <p:pic>
        <p:nvPicPr>
          <p:cNvPr id="90" name="Google Shape;90;p13" descr="image.png"/>
          <p:cNvPicPr preferRelativeResize="0"/>
          <p:nvPr/>
        </p:nvPicPr>
        <p:blipFill rotWithShape="1">
          <a:blip r:embed="rId7">
            <a:alphaModFix/>
          </a:blip>
          <a:srcRect/>
          <a:stretch/>
        </p:blipFill>
        <p:spPr>
          <a:xfrm>
            <a:off x="762001" y="2282443"/>
            <a:ext cx="123825" cy="119580"/>
          </a:xfrm>
          <a:prstGeom prst="rect">
            <a:avLst/>
          </a:prstGeom>
          <a:noFill/>
          <a:ln>
            <a:noFill/>
          </a:ln>
        </p:spPr>
      </p:pic>
      <p:pic>
        <p:nvPicPr>
          <p:cNvPr id="91" name="Google Shape;91;p13" descr="image.png"/>
          <p:cNvPicPr preferRelativeResize="0"/>
          <p:nvPr/>
        </p:nvPicPr>
        <p:blipFill rotWithShape="1">
          <a:blip r:embed="rId8">
            <a:alphaModFix/>
          </a:blip>
          <a:srcRect/>
          <a:stretch/>
        </p:blipFill>
        <p:spPr>
          <a:xfrm>
            <a:off x="814375" y="4318992"/>
            <a:ext cx="1514475" cy="357187"/>
          </a:xfrm>
          <a:prstGeom prst="rect">
            <a:avLst/>
          </a:prstGeom>
          <a:noFill/>
          <a:ln>
            <a:noFill/>
          </a:ln>
        </p:spPr>
      </p:pic>
      <p:pic>
        <p:nvPicPr>
          <p:cNvPr id="92" name="Google Shape;92;p13" descr="image.png"/>
          <p:cNvPicPr preferRelativeResize="0"/>
          <p:nvPr/>
        </p:nvPicPr>
        <p:blipFill rotWithShape="1">
          <a:blip r:embed="rId9">
            <a:alphaModFix/>
          </a:blip>
          <a:srcRect/>
          <a:stretch/>
        </p:blipFill>
        <p:spPr>
          <a:xfrm>
            <a:off x="2490788" y="4318992"/>
            <a:ext cx="1314450" cy="357187"/>
          </a:xfrm>
          <a:prstGeom prst="rect">
            <a:avLst/>
          </a:prstGeom>
          <a:noFill/>
          <a:ln>
            <a:noFill/>
          </a:ln>
        </p:spPr>
      </p:pic>
      <p:pic>
        <p:nvPicPr>
          <p:cNvPr id="93" name="Google Shape;93;p13" descr="image.png"/>
          <p:cNvPicPr preferRelativeResize="0"/>
          <p:nvPr/>
        </p:nvPicPr>
        <p:blipFill rotWithShape="1">
          <a:blip r:embed="rId10">
            <a:alphaModFix/>
          </a:blip>
          <a:srcRect/>
          <a:stretch/>
        </p:blipFill>
        <p:spPr>
          <a:xfrm>
            <a:off x="3967163" y="4318992"/>
            <a:ext cx="1285875" cy="357187"/>
          </a:xfrm>
          <a:prstGeom prst="rect">
            <a:avLst/>
          </a:prstGeom>
          <a:noFill/>
          <a:ln>
            <a:noFill/>
          </a:ln>
        </p:spPr>
      </p:pic>
      <p:sp>
        <p:nvSpPr>
          <p:cNvPr id="94" name="Google Shape;94;p13"/>
          <p:cNvSpPr txBox="1"/>
          <p:nvPr/>
        </p:nvSpPr>
        <p:spPr>
          <a:xfrm>
            <a:off x="7153275" y="2180332"/>
            <a:ext cx="416052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dirty="0">
                <a:solidFill>
                  <a:schemeClr val="bg1"/>
                </a:solidFill>
                <a:latin typeface="Poppins"/>
                <a:cs typeface="Poppins"/>
                <a:sym typeface="Poppins"/>
              </a:rPr>
              <a:t>INTERNSHIP PROFILE</a:t>
            </a:r>
            <a:endParaRPr dirty="0">
              <a:solidFill>
                <a:schemeClr val="bg1"/>
              </a:solidFill>
            </a:endParaRPr>
          </a:p>
        </p:txBody>
      </p:sp>
      <p:sp>
        <p:nvSpPr>
          <p:cNvPr id="95" name="Google Shape;95;p13"/>
          <p:cNvSpPr/>
          <p:nvPr/>
        </p:nvSpPr>
        <p:spPr>
          <a:xfrm>
            <a:off x="7134225" y="2608957"/>
            <a:ext cx="3962400"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6" name="Google Shape;96;p13" descr="image.png"/>
          <p:cNvPicPr preferRelativeResize="0"/>
          <p:nvPr/>
        </p:nvPicPr>
        <p:blipFill rotWithShape="1">
          <a:blip r:embed="rId11">
            <a:alphaModFix/>
          </a:blip>
          <a:srcRect/>
          <a:stretch/>
        </p:blipFill>
        <p:spPr>
          <a:xfrm>
            <a:off x="904875" y="4435673"/>
            <a:ext cx="152400" cy="123825"/>
          </a:xfrm>
          <a:prstGeom prst="rect">
            <a:avLst/>
          </a:prstGeom>
          <a:noFill/>
          <a:ln>
            <a:noFill/>
          </a:ln>
        </p:spPr>
      </p:pic>
      <p:pic>
        <p:nvPicPr>
          <p:cNvPr id="97" name="Google Shape;97;p13" descr="image.png"/>
          <p:cNvPicPr preferRelativeResize="0"/>
          <p:nvPr/>
        </p:nvPicPr>
        <p:blipFill rotWithShape="1">
          <a:blip r:embed="rId12">
            <a:alphaModFix/>
          </a:blip>
          <a:srcRect/>
          <a:stretch/>
        </p:blipFill>
        <p:spPr>
          <a:xfrm>
            <a:off x="2562225" y="4435673"/>
            <a:ext cx="152400" cy="123825"/>
          </a:xfrm>
          <a:prstGeom prst="rect">
            <a:avLst/>
          </a:prstGeom>
          <a:noFill/>
          <a:ln>
            <a:noFill/>
          </a:ln>
        </p:spPr>
      </p:pic>
      <p:pic>
        <p:nvPicPr>
          <p:cNvPr id="98" name="Google Shape;98;p13" descr="image.png"/>
          <p:cNvPicPr preferRelativeResize="0"/>
          <p:nvPr/>
        </p:nvPicPr>
        <p:blipFill rotWithShape="1">
          <a:blip r:embed="rId13">
            <a:alphaModFix/>
          </a:blip>
          <a:srcRect/>
          <a:stretch/>
        </p:blipFill>
        <p:spPr>
          <a:xfrm>
            <a:off x="4019550" y="4435673"/>
            <a:ext cx="123825" cy="123825"/>
          </a:xfrm>
          <a:prstGeom prst="rect">
            <a:avLst/>
          </a:prstGeom>
          <a:noFill/>
          <a:ln>
            <a:noFill/>
          </a:ln>
        </p:spPr>
      </p:pic>
      <p:sp>
        <p:nvSpPr>
          <p:cNvPr id="99" name="Google Shape;99;p13"/>
          <p:cNvSpPr txBox="1"/>
          <p:nvPr/>
        </p:nvSpPr>
        <p:spPr>
          <a:xfrm>
            <a:off x="7134225" y="2856607"/>
            <a:ext cx="39624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C8C80"/>
                </a:solidFill>
                <a:latin typeface="Lato"/>
                <a:ea typeface="Lato"/>
                <a:cs typeface="Lato"/>
                <a:sym typeface="Lato"/>
              </a:rPr>
              <a:t>STUDENT NAME</a:t>
            </a:r>
            <a:endParaRPr/>
          </a:p>
        </p:txBody>
      </p:sp>
      <p:sp>
        <p:nvSpPr>
          <p:cNvPr id="100" name="Google Shape;100;p13"/>
          <p:cNvSpPr txBox="1"/>
          <p:nvPr/>
        </p:nvSpPr>
        <p:spPr>
          <a:xfrm>
            <a:off x="7134225" y="3112889"/>
            <a:ext cx="39624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chemeClr val="bg1"/>
                </a:solidFill>
                <a:latin typeface="Lato"/>
                <a:ea typeface="Lato"/>
                <a:cs typeface="Lato"/>
                <a:sym typeface="Lato"/>
              </a:rPr>
              <a:t>NUTHAKKI BHARGAVI</a:t>
            </a:r>
            <a:endParaRPr dirty="0">
              <a:solidFill>
                <a:schemeClr val="bg1"/>
              </a:solidFill>
            </a:endParaRPr>
          </a:p>
        </p:txBody>
      </p:sp>
      <p:sp>
        <p:nvSpPr>
          <p:cNvPr id="101" name="Google Shape;101;p13"/>
          <p:cNvSpPr txBox="1"/>
          <p:nvPr/>
        </p:nvSpPr>
        <p:spPr>
          <a:xfrm>
            <a:off x="7134225" y="3361432"/>
            <a:ext cx="39624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C8C80"/>
                </a:solidFill>
                <a:latin typeface="Lato"/>
                <a:ea typeface="Lato"/>
                <a:cs typeface="Lato"/>
                <a:sym typeface="Lato"/>
              </a:rPr>
              <a:t>COLLEGE NAME</a:t>
            </a:r>
            <a:endParaRPr/>
          </a:p>
        </p:txBody>
      </p:sp>
      <p:sp>
        <p:nvSpPr>
          <p:cNvPr id="102" name="Google Shape;102;p13"/>
          <p:cNvSpPr txBox="1"/>
          <p:nvPr/>
        </p:nvSpPr>
        <p:spPr>
          <a:xfrm>
            <a:off x="7134225" y="3542407"/>
            <a:ext cx="3962400" cy="210058"/>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1" i="0" u="none" strike="noStrike" cap="none" dirty="0">
                <a:solidFill>
                  <a:schemeClr val="bg1"/>
                </a:solidFill>
                <a:latin typeface="Lato"/>
                <a:ea typeface="Lato"/>
                <a:cs typeface="Lato"/>
                <a:sym typeface="Lato"/>
              </a:rPr>
              <a:t>Rajiv Gandhi University of Knowledge and Technologies, </a:t>
            </a:r>
            <a:r>
              <a:rPr lang="en-US" sz="1050" b="1" i="0" u="none" strike="noStrike" cap="none" dirty="0" err="1">
                <a:solidFill>
                  <a:schemeClr val="bg1"/>
                </a:solidFill>
                <a:latin typeface="Lato"/>
                <a:ea typeface="Lato"/>
                <a:cs typeface="Lato"/>
                <a:sym typeface="Lato"/>
              </a:rPr>
              <a:t>Ongole</a:t>
            </a:r>
            <a:endParaRPr dirty="0">
              <a:solidFill>
                <a:schemeClr val="bg1"/>
              </a:solidFill>
            </a:endParaRPr>
          </a:p>
        </p:txBody>
      </p:sp>
      <p:sp>
        <p:nvSpPr>
          <p:cNvPr id="103" name="Google Shape;103;p13"/>
          <p:cNvSpPr txBox="1"/>
          <p:nvPr/>
        </p:nvSpPr>
        <p:spPr>
          <a:xfrm>
            <a:off x="7134225" y="3858517"/>
            <a:ext cx="39624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C8C80"/>
                </a:solidFill>
                <a:latin typeface="Lato"/>
                <a:ea typeface="Lato"/>
                <a:cs typeface="Lato"/>
                <a:sym typeface="Lato"/>
              </a:rPr>
              <a:t>INTERNSHIP DURATION</a:t>
            </a:r>
            <a:endParaRPr/>
          </a:p>
        </p:txBody>
      </p:sp>
      <p:sp>
        <p:nvSpPr>
          <p:cNvPr id="104" name="Google Shape;104;p13"/>
          <p:cNvSpPr txBox="1"/>
          <p:nvPr/>
        </p:nvSpPr>
        <p:spPr>
          <a:xfrm>
            <a:off x="7134225" y="4039492"/>
            <a:ext cx="39624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chemeClr val="bg1"/>
                </a:solidFill>
                <a:latin typeface="Lato"/>
                <a:ea typeface="Lato"/>
                <a:cs typeface="Lato"/>
                <a:sym typeface="Lato"/>
              </a:rPr>
              <a:t>May 14, 2026 – June 15, 2026</a:t>
            </a:r>
            <a:endParaRPr dirty="0">
              <a:solidFill>
                <a:schemeClr val="bg1"/>
              </a:solidFill>
            </a:endParaRPr>
          </a:p>
        </p:txBody>
      </p:sp>
      <p:sp>
        <p:nvSpPr>
          <p:cNvPr id="105" name="Google Shape;105;p13"/>
          <p:cNvSpPr txBox="1"/>
          <p:nvPr/>
        </p:nvSpPr>
        <p:spPr>
          <a:xfrm>
            <a:off x="7134225" y="4363342"/>
            <a:ext cx="39624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C8C80"/>
                </a:solidFill>
                <a:latin typeface="Lato"/>
                <a:ea typeface="Lato"/>
                <a:cs typeface="Lato"/>
                <a:sym typeface="Lato"/>
              </a:rPr>
              <a:t>SUBMISSION DATE</a:t>
            </a:r>
            <a:endParaRPr/>
          </a:p>
        </p:txBody>
      </p:sp>
      <p:sp>
        <p:nvSpPr>
          <p:cNvPr id="106" name="Google Shape;106;p13"/>
          <p:cNvSpPr txBox="1"/>
          <p:nvPr/>
        </p:nvSpPr>
        <p:spPr>
          <a:xfrm>
            <a:off x="7134225" y="4544317"/>
            <a:ext cx="39624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chemeClr val="bg1"/>
                </a:solidFill>
                <a:latin typeface="Lato"/>
                <a:ea typeface="Lato"/>
                <a:cs typeface="Lato"/>
                <a:sym typeface="Lato"/>
              </a:rPr>
              <a:t>25-06-2026</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110"/>
        <p:cNvGrpSpPr/>
        <p:nvPr/>
      </p:nvGrpSpPr>
      <p:grpSpPr>
        <a:xfrm>
          <a:off x="0" y="0"/>
          <a:ext cx="0" cy="0"/>
          <a:chOff x="0" y="0"/>
          <a:chExt cx="0" cy="0"/>
        </a:xfrm>
      </p:grpSpPr>
      <p:pic>
        <p:nvPicPr>
          <p:cNvPr id="111" name="Google Shape;11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4" descr="image.png"/>
          <p:cNvPicPr preferRelativeResize="0"/>
          <p:nvPr/>
        </p:nvPicPr>
        <p:blipFill rotWithShape="1">
          <a:blip r:embed="rId4">
            <a:alphaModFix/>
          </a:blip>
          <a:srcRect/>
          <a:stretch/>
        </p:blipFill>
        <p:spPr>
          <a:xfrm>
            <a:off x="666750" y="2875508"/>
            <a:ext cx="2536031" cy="2543175"/>
          </a:xfrm>
          <a:prstGeom prst="rect">
            <a:avLst/>
          </a:prstGeom>
          <a:noFill/>
          <a:ln>
            <a:noFill/>
          </a:ln>
        </p:spPr>
      </p:pic>
      <p:pic>
        <p:nvPicPr>
          <p:cNvPr id="113" name="Google Shape;113;p14" descr="image.png"/>
          <p:cNvPicPr preferRelativeResize="0"/>
          <p:nvPr/>
        </p:nvPicPr>
        <p:blipFill rotWithShape="1">
          <a:blip r:embed="rId5">
            <a:alphaModFix/>
          </a:blip>
          <a:srcRect/>
          <a:stretch/>
        </p:blipFill>
        <p:spPr>
          <a:xfrm>
            <a:off x="3440906" y="2875508"/>
            <a:ext cx="2536031" cy="2543175"/>
          </a:xfrm>
          <a:prstGeom prst="rect">
            <a:avLst/>
          </a:prstGeom>
          <a:noFill/>
          <a:ln>
            <a:noFill/>
          </a:ln>
        </p:spPr>
      </p:pic>
      <p:pic>
        <p:nvPicPr>
          <p:cNvPr id="114" name="Google Shape;114;p14" descr="image.png"/>
          <p:cNvPicPr preferRelativeResize="0"/>
          <p:nvPr/>
        </p:nvPicPr>
        <p:blipFill rotWithShape="1">
          <a:blip r:embed="rId6">
            <a:alphaModFix/>
          </a:blip>
          <a:srcRect/>
          <a:stretch/>
        </p:blipFill>
        <p:spPr>
          <a:xfrm>
            <a:off x="6215062" y="2875508"/>
            <a:ext cx="2536031" cy="2543175"/>
          </a:xfrm>
          <a:prstGeom prst="rect">
            <a:avLst/>
          </a:prstGeom>
          <a:noFill/>
          <a:ln>
            <a:noFill/>
          </a:ln>
        </p:spPr>
      </p:pic>
      <p:pic>
        <p:nvPicPr>
          <p:cNvPr id="115" name="Google Shape;115;p14" descr="image.png"/>
          <p:cNvPicPr preferRelativeResize="0"/>
          <p:nvPr/>
        </p:nvPicPr>
        <p:blipFill rotWithShape="1">
          <a:blip r:embed="rId7">
            <a:alphaModFix/>
          </a:blip>
          <a:srcRect/>
          <a:stretch/>
        </p:blipFill>
        <p:spPr>
          <a:xfrm>
            <a:off x="8989218" y="2875508"/>
            <a:ext cx="2536031" cy="2543175"/>
          </a:xfrm>
          <a:prstGeom prst="rect">
            <a:avLst/>
          </a:prstGeom>
          <a:noFill/>
          <a:ln>
            <a:noFill/>
          </a:ln>
        </p:spPr>
      </p:pic>
      <p:sp>
        <p:nvSpPr>
          <p:cNvPr id="116" name="Google Shape;116;p14"/>
          <p:cNvSpPr txBox="1"/>
          <p:nvPr/>
        </p:nvSpPr>
        <p:spPr>
          <a:xfrm>
            <a:off x="1809750" y="2075408"/>
            <a:ext cx="8572500" cy="5143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4B6B5F"/>
                </a:solidFill>
                <a:latin typeface="Lato"/>
                <a:ea typeface="Lato"/>
                <a:cs typeface="Lato"/>
                <a:sym typeface="Lato"/>
              </a:rPr>
              <a:t>This project follows the core design-thinking pedagogy of the 1M1B curriculum to address systemic societal and environmental challenges responsibly using artificial intelligence.</a:t>
            </a:r>
            <a:endParaRPr/>
          </a:p>
        </p:txBody>
      </p:sp>
      <p:pic>
        <p:nvPicPr>
          <p:cNvPr id="117" name="Google Shape;117;p14" descr="image.png"/>
          <p:cNvPicPr preferRelativeResize="0"/>
          <p:nvPr/>
        </p:nvPicPr>
        <p:blipFill rotWithShape="1">
          <a:blip r:embed="rId8">
            <a:alphaModFix/>
          </a:blip>
          <a:srcRect/>
          <a:stretch/>
        </p:blipFill>
        <p:spPr>
          <a:xfrm>
            <a:off x="1577578" y="3123158"/>
            <a:ext cx="714375" cy="714375"/>
          </a:xfrm>
          <a:prstGeom prst="rect">
            <a:avLst/>
          </a:prstGeom>
          <a:noFill/>
          <a:ln>
            <a:noFill/>
          </a:ln>
        </p:spPr>
      </p:pic>
      <p:sp>
        <p:nvSpPr>
          <p:cNvPr id="118" name="Google Shape;118;p14"/>
          <p:cNvSpPr txBox="1"/>
          <p:nvPr/>
        </p:nvSpPr>
        <p:spPr>
          <a:xfrm>
            <a:off x="1274683" y="3980408"/>
            <a:ext cx="1320165"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1. Empathize</a:t>
            </a:r>
            <a:endParaRPr/>
          </a:p>
        </p:txBody>
      </p:sp>
      <p:sp>
        <p:nvSpPr>
          <p:cNvPr id="119" name="Google Shape;119;p14"/>
          <p:cNvSpPr txBox="1"/>
          <p:nvPr/>
        </p:nvSpPr>
        <p:spPr>
          <a:xfrm>
            <a:off x="866775" y="437093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Observed real climate threats inside rural communities, coastal ecosystems, and dense urban metros.</a:t>
            </a:r>
            <a:endParaRPr/>
          </a:p>
        </p:txBody>
      </p:sp>
      <p:pic>
        <p:nvPicPr>
          <p:cNvPr id="120" name="Google Shape;120;p14" descr="image.png"/>
          <p:cNvPicPr preferRelativeResize="0"/>
          <p:nvPr/>
        </p:nvPicPr>
        <p:blipFill rotWithShape="1">
          <a:blip r:embed="rId9">
            <a:alphaModFix/>
          </a:blip>
          <a:srcRect/>
          <a:stretch/>
        </p:blipFill>
        <p:spPr>
          <a:xfrm>
            <a:off x="4351734" y="3123158"/>
            <a:ext cx="714375" cy="714375"/>
          </a:xfrm>
          <a:prstGeom prst="rect">
            <a:avLst/>
          </a:prstGeom>
          <a:noFill/>
          <a:ln>
            <a:noFill/>
          </a:ln>
        </p:spPr>
      </p:pic>
      <p:sp>
        <p:nvSpPr>
          <p:cNvPr id="121" name="Google Shape;121;p14"/>
          <p:cNvSpPr txBox="1"/>
          <p:nvPr/>
        </p:nvSpPr>
        <p:spPr>
          <a:xfrm>
            <a:off x="3938825" y="3980408"/>
            <a:ext cx="154019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2. Define Gaps</a:t>
            </a:r>
            <a:endParaRPr/>
          </a:p>
        </p:txBody>
      </p:sp>
      <p:sp>
        <p:nvSpPr>
          <p:cNvPr id="122" name="Google Shape;122;p14"/>
          <p:cNvSpPr txBox="1"/>
          <p:nvPr/>
        </p:nvSpPr>
        <p:spPr>
          <a:xfrm>
            <a:off x="3640931" y="437093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Identified critical delays in local weather warning accuracy and severe lack of hyper-local delivery pipelines.</a:t>
            </a:r>
            <a:endParaRPr/>
          </a:p>
        </p:txBody>
      </p:sp>
      <p:pic>
        <p:nvPicPr>
          <p:cNvPr id="123" name="Google Shape;123;p14" descr="image.png"/>
          <p:cNvPicPr preferRelativeResize="0"/>
          <p:nvPr/>
        </p:nvPicPr>
        <p:blipFill rotWithShape="1">
          <a:blip r:embed="rId10">
            <a:alphaModFix/>
          </a:blip>
          <a:srcRect/>
          <a:stretch/>
        </p:blipFill>
        <p:spPr>
          <a:xfrm>
            <a:off x="7125890" y="3123158"/>
            <a:ext cx="714375" cy="714375"/>
          </a:xfrm>
          <a:prstGeom prst="rect">
            <a:avLst/>
          </a:prstGeom>
          <a:noFill/>
          <a:ln>
            <a:noFill/>
          </a:ln>
        </p:spPr>
      </p:pic>
      <p:sp>
        <p:nvSpPr>
          <p:cNvPr id="124" name="Google Shape;124;p14"/>
          <p:cNvSpPr txBox="1"/>
          <p:nvPr/>
        </p:nvSpPr>
        <p:spPr>
          <a:xfrm>
            <a:off x="6557962" y="3980408"/>
            <a:ext cx="1850231"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3. Ideate &amp; Model</a:t>
            </a:r>
            <a:endParaRPr/>
          </a:p>
        </p:txBody>
      </p:sp>
      <p:sp>
        <p:nvSpPr>
          <p:cNvPr id="125" name="Google Shape;125;p14"/>
          <p:cNvSpPr txBox="1"/>
          <p:nvPr/>
        </p:nvSpPr>
        <p:spPr>
          <a:xfrm>
            <a:off x="6415087" y="437093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Mapped AI-powered systems, predictive LSTMs, and automated multi-lingual messaging logical agents.</a:t>
            </a:r>
            <a:endParaRPr/>
          </a:p>
        </p:txBody>
      </p:sp>
      <p:pic>
        <p:nvPicPr>
          <p:cNvPr id="126" name="Google Shape;126;p14" descr="image.png"/>
          <p:cNvPicPr preferRelativeResize="0"/>
          <p:nvPr/>
        </p:nvPicPr>
        <p:blipFill rotWithShape="1">
          <a:blip r:embed="rId11">
            <a:alphaModFix/>
          </a:blip>
          <a:srcRect/>
          <a:stretch/>
        </p:blipFill>
        <p:spPr>
          <a:xfrm>
            <a:off x="9900046" y="3123158"/>
            <a:ext cx="714375" cy="714375"/>
          </a:xfrm>
          <a:prstGeom prst="rect">
            <a:avLst/>
          </a:prstGeom>
          <a:noFill/>
          <a:ln>
            <a:noFill/>
          </a:ln>
        </p:spPr>
      </p:pic>
      <p:sp>
        <p:nvSpPr>
          <p:cNvPr id="127" name="Google Shape;127;p14"/>
          <p:cNvSpPr txBox="1"/>
          <p:nvPr/>
        </p:nvSpPr>
        <p:spPr>
          <a:xfrm>
            <a:off x="9277111" y="3980408"/>
            <a:ext cx="1960245"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4. Build for Impact</a:t>
            </a:r>
            <a:endParaRPr/>
          </a:p>
        </p:txBody>
      </p:sp>
      <p:sp>
        <p:nvSpPr>
          <p:cNvPr id="128" name="Google Shape;128;p14"/>
          <p:cNvSpPr txBox="1"/>
          <p:nvPr/>
        </p:nvSpPr>
        <p:spPr>
          <a:xfrm>
            <a:off x="9189243" y="437093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Aligned predictive indicators directly with SDG 13 Target 13.1 for long-term climate adaptation and societal safety.</a:t>
            </a:r>
            <a:endParaRPr/>
          </a:p>
        </p:txBody>
      </p:sp>
      <p:pic>
        <p:nvPicPr>
          <p:cNvPr id="129" name="Google Shape;129;p14" descr="image.png"/>
          <p:cNvPicPr preferRelativeResize="0"/>
          <p:nvPr/>
        </p:nvPicPr>
        <p:blipFill rotWithShape="1">
          <a:blip r:embed="rId12">
            <a:alphaModFix/>
          </a:blip>
          <a:srcRect/>
          <a:stretch/>
        </p:blipFill>
        <p:spPr>
          <a:xfrm>
            <a:off x="1706165" y="3299370"/>
            <a:ext cx="457200" cy="361950"/>
          </a:xfrm>
          <a:prstGeom prst="rect">
            <a:avLst/>
          </a:prstGeom>
          <a:noFill/>
          <a:ln>
            <a:noFill/>
          </a:ln>
        </p:spPr>
      </p:pic>
      <p:pic>
        <p:nvPicPr>
          <p:cNvPr id="130" name="Google Shape;130;p14" descr="image.png"/>
          <p:cNvPicPr preferRelativeResize="0"/>
          <p:nvPr/>
        </p:nvPicPr>
        <p:blipFill rotWithShape="1">
          <a:blip r:embed="rId13">
            <a:alphaModFix/>
          </a:blip>
          <a:srcRect/>
          <a:stretch/>
        </p:blipFill>
        <p:spPr>
          <a:xfrm>
            <a:off x="4527946" y="3299370"/>
            <a:ext cx="361950" cy="361950"/>
          </a:xfrm>
          <a:prstGeom prst="rect">
            <a:avLst/>
          </a:prstGeom>
          <a:noFill/>
          <a:ln>
            <a:noFill/>
          </a:ln>
        </p:spPr>
      </p:pic>
      <p:pic>
        <p:nvPicPr>
          <p:cNvPr id="131" name="Google Shape;131;p14" descr="image.png"/>
          <p:cNvPicPr preferRelativeResize="0"/>
          <p:nvPr/>
        </p:nvPicPr>
        <p:blipFill rotWithShape="1">
          <a:blip r:embed="rId14">
            <a:alphaModFix/>
          </a:blip>
          <a:srcRect/>
          <a:stretch/>
        </p:blipFill>
        <p:spPr>
          <a:xfrm>
            <a:off x="7254478" y="3299370"/>
            <a:ext cx="457200" cy="361950"/>
          </a:xfrm>
          <a:prstGeom prst="rect">
            <a:avLst/>
          </a:prstGeom>
          <a:noFill/>
          <a:ln>
            <a:noFill/>
          </a:ln>
        </p:spPr>
      </p:pic>
      <p:pic>
        <p:nvPicPr>
          <p:cNvPr id="132" name="Google Shape;132;p14" descr="image.png"/>
          <p:cNvPicPr preferRelativeResize="0"/>
          <p:nvPr/>
        </p:nvPicPr>
        <p:blipFill rotWithShape="1">
          <a:blip r:embed="rId15">
            <a:alphaModFix/>
          </a:blip>
          <a:srcRect/>
          <a:stretch/>
        </p:blipFill>
        <p:spPr>
          <a:xfrm>
            <a:off x="10076259" y="3299370"/>
            <a:ext cx="361950" cy="361950"/>
          </a:xfrm>
          <a:prstGeom prst="rect">
            <a:avLst/>
          </a:prstGeom>
          <a:noFill/>
          <a:ln>
            <a:noFill/>
          </a:ln>
        </p:spPr>
      </p:pic>
      <p:sp>
        <p:nvSpPr>
          <p:cNvPr id="133" name="Google Shape;133;p14"/>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Internship Project Journey</a:t>
            </a:r>
            <a:endParaRPr/>
          </a:p>
        </p:txBody>
      </p:sp>
      <p:sp>
        <p:nvSpPr>
          <p:cNvPr id="134" name="Google Shape;134;p14"/>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138"/>
        <p:cNvGrpSpPr/>
        <p:nvPr/>
      </p:nvGrpSpPr>
      <p:grpSpPr>
        <a:xfrm>
          <a:off x="0" y="0"/>
          <a:ext cx="0" cy="0"/>
          <a:chOff x="0" y="0"/>
          <a:chExt cx="0" cy="0"/>
        </a:xfrm>
      </p:grpSpPr>
      <p:pic>
        <p:nvPicPr>
          <p:cNvPr id="139" name="Google Shape;13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0" name="Google Shape;140;p15" descr="image.png"/>
          <p:cNvPicPr preferRelativeResize="0"/>
          <p:nvPr/>
        </p:nvPicPr>
        <p:blipFill rotWithShape="1">
          <a:blip r:embed="rId4">
            <a:alphaModFix/>
          </a:blip>
          <a:srcRect/>
          <a:stretch/>
        </p:blipFill>
        <p:spPr>
          <a:xfrm>
            <a:off x="666750" y="2475458"/>
            <a:ext cx="2536031" cy="2543175"/>
          </a:xfrm>
          <a:prstGeom prst="rect">
            <a:avLst/>
          </a:prstGeom>
          <a:noFill/>
          <a:ln>
            <a:noFill/>
          </a:ln>
        </p:spPr>
      </p:pic>
      <p:pic>
        <p:nvPicPr>
          <p:cNvPr id="141" name="Google Shape;141;p15" descr="image.png"/>
          <p:cNvPicPr preferRelativeResize="0"/>
          <p:nvPr/>
        </p:nvPicPr>
        <p:blipFill rotWithShape="1">
          <a:blip r:embed="rId5">
            <a:alphaModFix/>
          </a:blip>
          <a:srcRect/>
          <a:stretch/>
        </p:blipFill>
        <p:spPr>
          <a:xfrm>
            <a:off x="3440906" y="2475458"/>
            <a:ext cx="2536031" cy="2543175"/>
          </a:xfrm>
          <a:prstGeom prst="rect">
            <a:avLst/>
          </a:prstGeom>
          <a:noFill/>
          <a:ln>
            <a:noFill/>
          </a:ln>
        </p:spPr>
      </p:pic>
      <p:pic>
        <p:nvPicPr>
          <p:cNvPr id="142" name="Google Shape;142;p15" descr="image.png"/>
          <p:cNvPicPr preferRelativeResize="0"/>
          <p:nvPr/>
        </p:nvPicPr>
        <p:blipFill rotWithShape="1">
          <a:blip r:embed="rId6">
            <a:alphaModFix/>
          </a:blip>
          <a:srcRect/>
          <a:stretch/>
        </p:blipFill>
        <p:spPr>
          <a:xfrm>
            <a:off x="6215062" y="2475458"/>
            <a:ext cx="2536031" cy="2543175"/>
          </a:xfrm>
          <a:prstGeom prst="rect">
            <a:avLst/>
          </a:prstGeom>
          <a:noFill/>
          <a:ln>
            <a:noFill/>
          </a:ln>
        </p:spPr>
      </p:pic>
      <p:pic>
        <p:nvPicPr>
          <p:cNvPr id="143" name="Google Shape;143;p15" descr="image.png"/>
          <p:cNvPicPr preferRelativeResize="0"/>
          <p:nvPr/>
        </p:nvPicPr>
        <p:blipFill rotWithShape="1">
          <a:blip r:embed="rId7">
            <a:alphaModFix/>
          </a:blip>
          <a:srcRect/>
          <a:stretch/>
        </p:blipFill>
        <p:spPr>
          <a:xfrm>
            <a:off x="8989218" y="2475458"/>
            <a:ext cx="2536031" cy="2543175"/>
          </a:xfrm>
          <a:prstGeom prst="rect">
            <a:avLst/>
          </a:prstGeom>
          <a:noFill/>
          <a:ln>
            <a:noFill/>
          </a:ln>
        </p:spPr>
      </p:pic>
      <p:pic>
        <p:nvPicPr>
          <p:cNvPr id="144" name="Google Shape;144;p15" descr="image.png"/>
          <p:cNvPicPr preferRelativeResize="0"/>
          <p:nvPr/>
        </p:nvPicPr>
        <p:blipFill rotWithShape="1">
          <a:blip r:embed="rId8">
            <a:alphaModFix/>
          </a:blip>
          <a:srcRect/>
          <a:stretch/>
        </p:blipFill>
        <p:spPr>
          <a:xfrm>
            <a:off x="1577578" y="2723108"/>
            <a:ext cx="714375" cy="714375"/>
          </a:xfrm>
          <a:prstGeom prst="rect">
            <a:avLst/>
          </a:prstGeom>
          <a:noFill/>
          <a:ln>
            <a:noFill/>
          </a:ln>
        </p:spPr>
      </p:pic>
      <p:sp>
        <p:nvSpPr>
          <p:cNvPr id="145" name="Google Shape;145;p15"/>
          <p:cNvSpPr txBox="1"/>
          <p:nvPr/>
        </p:nvSpPr>
        <p:spPr>
          <a:xfrm>
            <a:off x="1574720" y="3580358"/>
            <a:ext cx="720090"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Floods</a:t>
            </a:r>
            <a:endParaRPr/>
          </a:p>
        </p:txBody>
      </p:sp>
      <p:sp>
        <p:nvSpPr>
          <p:cNvPr id="146" name="Google Shape;146;p15"/>
          <p:cNvSpPr txBox="1"/>
          <p:nvPr/>
        </p:nvSpPr>
        <p:spPr>
          <a:xfrm>
            <a:off x="866775" y="397088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Over 40 million people are impacted annually by erratic monsoons, storm surges, and unmanaged urban flash floods.</a:t>
            </a:r>
            <a:endParaRPr/>
          </a:p>
        </p:txBody>
      </p:sp>
      <p:pic>
        <p:nvPicPr>
          <p:cNvPr id="147" name="Google Shape;147;p15" descr="image.png"/>
          <p:cNvPicPr preferRelativeResize="0"/>
          <p:nvPr/>
        </p:nvPicPr>
        <p:blipFill rotWithShape="1">
          <a:blip r:embed="rId9">
            <a:alphaModFix/>
          </a:blip>
          <a:srcRect/>
          <a:stretch/>
        </p:blipFill>
        <p:spPr>
          <a:xfrm>
            <a:off x="4351734" y="2723108"/>
            <a:ext cx="714375" cy="714375"/>
          </a:xfrm>
          <a:prstGeom prst="rect">
            <a:avLst/>
          </a:prstGeom>
          <a:noFill/>
          <a:ln>
            <a:noFill/>
          </a:ln>
        </p:spPr>
      </p:pic>
      <p:sp>
        <p:nvSpPr>
          <p:cNvPr id="148" name="Google Shape;148;p15"/>
          <p:cNvSpPr txBox="1"/>
          <p:nvPr/>
        </p:nvSpPr>
        <p:spPr>
          <a:xfrm>
            <a:off x="4093845" y="3580358"/>
            <a:ext cx="1230153"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Heatwaves</a:t>
            </a:r>
            <a:endParaRPr/>
          </a:p>
        </p:txBody>
      </p:sp>
      <p:sp>
        <p:nvSpPr>
          <p:cNvPr id="149" name="Google Shape;149;p15"/>
          <p:cNvSpPr txBox="1"/>
          <p:nvPr/>
        </p:nvSpPr>
        <p:spPr>
          <a:xfrm>
            <a:off x="3640931" y="397088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Extreme temperatures above 45°C cause 2,000+ fatalities annually, targeting open laborers and rural farmers.</a:t>
            </a:r>
            <a:endParaRPr/>
          </a:p>
        </p:txBody>
      </p:sp>
      <p:pic>
        <p:nvPicPr>
          <p:cNvPr id="150" name="Google Shape;150;p15" descr="image.png"/>
          <p:cNvPicPr preferRelativeResize="0"/>
          <p:nvPr/>
        </p:nvPicPr>
        <p:blipFill rotWithShape="1">
          <a:blip r:embed="rId10">
            <a:alphaModFix/>
          </a:blip>
          <a:srcRect/>
          <a:stretch/>
        </p:blipFill>
        <p:spPr>
          <a:xfrm>
            <a:off x="7125890" y="2723108"/>
            <a:ext cx="714375" cy="714375"/>
          </a:xfrm>
          <a:prstGeom prst="rect">
            <a:avLst/>
          </a:prstGeom>
          <a:noFill/>
          <a:ln>
            <a:noFill/>
          </a:ln>
        </p:spPr>
      </p:pic>
      <p:sp>
        <p:nvSpPr>
          <p:cNvPr id="151" name="Google Shape;151;p15"/>
          <p:cNvSpPr txBox="1"/>
          <p:nvPr/>
        </p:nvSpPr>
        <p:spPr>
          <a:xfrm>
            <a:off x="6973014" y="3580358"/>
            <a:ext cx="1020127"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Droughts</a:t>
            </a:r>
            <a:endParaRPr/>
          </a:p>
        </p:txBody>
      </p:sp>
      <p:sp>
        <p:nvSpPr>
          <p:cNvPr id="152" name="Google Shape;152;p15"/>
          <p:cNvSpPr txBox="1"/>
          <p:nvPr/>
        </p:nvSpPr>
        <p:spPr>
          <a:xfrm>
            <a:off x="6415087" y="397088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68% of local agricultural land is vulnerability-prone, triggering systematic water scarcity issues for 600M citizens.</a:t>
            </a:r>
            <a:endParaRPr/>
          </a:p>
        </p:txBody>
      </p:sp>
      <p:pic>
        <p:nvPicPr>
          <p:cNvPr id="153" name="Google Shape;153;p15" descr="image.png"/>
          <p:cNvPicPr preferRelativeResize="0"/>
          <p:nvPr/>
        </p:nvPicPr>
        <p:blipFill rotWithShape="1">
          <a:blip r:embed="rId11">
            <a:alphaModFix/>
          </a:blip>
          <a:srcRect/>
          <a:stretch/>
        </p:blipFill>
        <p:spPr>
          <a:xfrm>
            <a:off x="9900046" y="2723108"/>
            <a:ext cx="714375" cy="714375"/>
          </a:xfrm>
          <a:prstGeom prst="rect">
            <a:avLst/>
          </a:prstGeom>
          <a:noFill/>
          <a:ln>
            <a:noFill/>
          </a:ln>
        </p:spPr>
      </p:pic>
      <p:sp>
        <p:nvSpPr>
          <p:cNvPr id="154" name="Google Shape;154;p15"/>
          <p:cNvSpPr txBox="1"/>
          <p:nvPr/>
        </p:nvSpPr>
        <p:spPr>
          <a:xfrm>
            <a:off x="9752171" y="3580358"/>
            <a:ext cx="1010126"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75" b="1" i="0" u="none" strike="noStrike" cap="none">
                <a:solidFill>
                  <a:srgbClr val="0E3A2F"/>
                </a:solidFill>
                <a:latin typeface="Poppins"/>
                <a:ea typeface="Poppins"/>
                <a:cs typeface="Poppins"/>
                <a:sym typeface="Poppins"/>
              </a:rPr>
              <a:t>Cyclones</a:t>
            </a:r>
            <a:endParaRPr/>
          </a:p>
        </p:txBody>
      </p:sp>
      <p:sp>
        <p:nvSpPr>
          <p:cNvPr id="155" name="Google Shape;155;p15"/>
          <p:cNvSpPr txBox="1"/>
          <p:nvPr/>
        </p:nvSpPr>
        <p:spPr>
          <a:xfrm>
            <a:off x="9189243" y="3970883"/>
            <a:ext cx="2135981" cy="8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B6B5F"/>
                </a:solidFill>
                <a:latin typeface="Lato"/>
                <a:ea typeface="Lato"/>
                <a:cs typeface="Lato"/>
                <a:sym typeface="Lato"/>
              </a:rPr>
              <a:t>5 to 6 destructive sea cyclones devastate vulnerable bay areas and coastal infrastructure with minimal prep windows.</a:t>
            </a:r>
            <a:endParaRPr/>
          </a:p>
        </p:txBody>
      </p:sp>
      <p:pic>
        <p:nvPicPr>
          <p:cNvPr id="156" name="Google Shape;156;p15" descr="image.png"/>
          <p:cNvPicPr preferRelativeResize="0"/>
          <p:nvPr/>
        </p:nvPicPr>
        <p:blipFill rotWithShape="1">
          <a:blip r:embed="rId12">
            <a:alphaModFix/>
          </a:blip>
          <a:srcRect/>
          <a:stretch/>
        </p:blipFill>
        <p:spPr>
          <a:xfrm>
            <a:off x="1729978" y="2899320"/>
            <a:ext cx="409575" cy="361950"/>
          </a:xfrm>
          <a:prstGeom prst="rect">
            <a:avLst/>
          </a:prstGeom>
          <a:noFill/>
          <a:ln>
            <a:noFill/>
          </a:ln>
        </p:spPr>
      </p:pic>
      <p:pic>
        <p:nvPicPr>
          <p:cNvPr id="157" name="Google Shape;157;p15" descr="image.png"/>
          <p:cNvPicPr preferRelativeResize="0"/>
          <p:nvPr/>
        </p:nvPicPr>
        <p:blipFill rotWithShape="1">
          <a:blip r:embed="rId13">
            <a:alphaModFix/>
          </a:blip>
          <a:srcRect/>
          <a:stretch/>
        </p:blipFill>
        <p:spPr>
          <a:xfrm>
            <a:off x="4527946" y="2899320"/>
            <a:ext cx="361950" cy="361950"/>
          </a:xfrm>
          <a:prstGeom prst="rect">
            <a:avLst/>
          </a:prstGeom>
          <a:noFill/>
          <a:ln>
            <a:noFill/>
          </a:ln>
        </p:spPr>
      </p:pic>
      <p:pic>
        <p:nvPicPr>
          <p:cNvPr id="158" name="Google Shape;158;p15" descr="image.png"/>
          <p:cNvPicPr preferRelativeResize="0"/>
          <p:nvPr/>
        </p:nvPicPr>
        <p:blipFill rotWithShape="1">
          <a:blip r:embed="rId14">
            <a:alphaModFix/>
          </a:blip>
          <a:srcRect/>
          <a:stretch/>
        </p:blipFill>
        <p:spPr>
          <a:xfrm>
            <a:off x="7302103" y="2899320"/>
            <a:ext cx="361950" cy="361950"/>
          </a:xfrm>
          <a:prstGeom prst="rect">
            <a:avLst/>
          </a:prstGeom>
          <a:noFill/>
          <a:ln>
            <a:noFill/>
          </a:ln>
        </p:spPr>
      </p:pic>
      <p:pic>
        <p:nvPicPr>
          <p:cNvPr id="159" name="Google Shape;159;p15" descr="image.png"/>
          <p:cNvPicPr preferRelativeResize="0"/>
          <p:nvPr/>
        </p:nvPicPr>
        <p:blipFill rotWithShape="1">
          <a:blip r:embed="rId15">
            <a:alphaModFix/>
          </a:blip>
          <a:srcRect/>
          <a:stretch/>
        </p:blipFill>
        <p:spPr>
          <a:xfrm>
            <a:off x="10076259" y="2899320"/>
            <a:ext cx="361950" cy="361950"/>
          </a:xfrm>
          <a:prstGeom prst="rect">
            <a:avLst/>
          </a:prstGeom>
          <a:noFill/>
          <a:ln>
            <a:noFill/>
          </a:ln>
        </p:spPr>
      </p:pic>
      <p:sp>
        <p:nvSpPr>
          <p:cNvPr id="160" name="Google Shape;160;p15"/>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Climate Challenges in India</a:t>
            </a:r>
            <a:endParaRPr/>
          </a:p>
        </p:txBody>
      </p:sp>
      <p:sp>
        <p:nvSpPr>
          <p:cNvPr id="161" name="Google Shape;161;p15"/>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165"/>
        <p:cNvGrpSpPr/>
        <p:nvPr/>
      </p:nvGrpSpPr>
      <p:grpSpPr>
        <a:xfrm>
          <a:off x="0" y="0"/>
          <a:ext cx="0" cy="0"/>
          <a:chOff x="0" y="0"/>
          <a:chExt cx="0" cy="0"/>
        </a:xfrm>
      </p:grpSpPr>
      <p:pic>
        <p:nvPicPr>
          <p:cNvPr id="166" name="Google Shape;16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7" name="Google Shape;167;p16" descr="image.png"/>
          <p:cNvPicPr preferRelativeResize="0"/>
          <p:nvPr/>
        </p:nvPicPr>
        <p:blipFill rotWithShape="1">
          <a:blip r:embed="rId4">
            <a:alphaModFix/>
          </a:blip>
          <a:srcRect/>
          <a:stretch/>
        </p:blipFill>
        <p:spPr>
          <a:xfrm>
            <a:off x="666750" y="2251620"/>
            <a:ext cx="5286375" cy="2990850"/>
          </a:xfrm>
          <a:prstGeom prst="rect">
            <a:avLst/>
          </a:prstGeom>
          <a:noFill/>
          <a:ln>
            <a:noFill/>
          </a:ln>
        </p:spPr>
      </p:pic>
      <p:pic>
        <p:nvPicPr>
          <p:cNvPr id="168" name="Google Shape;168;p16" descr="image.png"/>
          <p:cNvPicPr preferRelativeResize="0"/>
          <p:nvPr/>
        </p:nvPicPr>
        <p:blipFill rotWithShape="1">
          <a:blip r:embed="rId5">
            <a:alphaModFix/>
          </a:blip>
          <a:srcRect/>
          <a:stretch/>
        </p:blipFill>
        <p:spPr>
          <a:xfrm>
            <a:off x="6238875" y="2251620"/>
            <a:ext cx="5286375" cy="2990850"/>
          </a:xfrm>
          <a:prstGeom prst="rect">
            <a:avLst/>
          </a:prstGeom>
          <a:noFill/>
          <a:ln>
            <a:noFill/>
          </a:ln>
        </p:spPr>
      </p:pic>
      <p:pic>
        <p:nvPicPr>
          <p:cNvPr id="169" name="Google Shape;169;p16" descr="image.png"/>
          <p:cNvPicPr preferRelativeResize="0"/>
          <p:nvPr/>
        </p:nvPicPr>
        <p:blipFill rotWithShape="1">
          <a:blip r:embed="rId6">
            <a:alphaModFix/>
          </a:blip>
          <a:srcRect/>
          <a:stretch/>
        </p:blipFill>
        <p:spPr>
          <a:xfrm>
            <a:off x="1057275" y="2546895"/>
            <a:ext cx="1985962" cy="333375"/>
          </a:xfrm>
          <a:prstGeom prst="rect">
            <a:avLst/>
          </a:prstGeom>
          <a:noFill/>
          <a:ln>
            <a:noFill/>
          </a:ln>
        </p:spPr>
      </p:pic>
      <p:sp>
        <p:nvSpPr>
          <p:cNvPr id="170" name="Google Shape;170;p16"/>
          <p:cNvSpPr txBox="1"/>
          <p:nvPr/>
        </p:nvSpPr>
        <p:spPr>
          <a:xfrm>
            <a:off x="1057275" y="2975520"/>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59669"/>
                </a:solidFill>
                <a:latin typeface="Poppins"/>
                <a:ea typeface="Poppins"/>
                <a:cs typeface="Poppins"/>
                <a:sym typeface="Poppins"/>
              </a:rPr>
              <a:t>Rural Indian Farmers</a:t>
            </a:r>
            <a:endParaRPr/>
          </a:p>
        </p:txBody>
      </p:sp>
      <p:sp>
        <p:nvSpPr>
          <p:cNvPr id="171" name="Google Shape;171;p16"/>
          <p:cNvSpPr txBox="1"/>
          <p:nvPr/>
        </p:nvSpPr>
        <p:spPr>
          <a:xfrm>
            <a:off x="1057275" y="3461295"/>
            <a:ext cx="4505325"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2C4A3F"/>
                </a:solidFill>
                <a:latin typeface="Lato"/>
                <a:ea typeface="Lato"/>
                <a:cs typeface="Lato"/>
                <a:sym typeface="Lato"/>
              </a:rPr>
              <a:t>Context:</a:t>
            </a:r>
            <a:r>
              <a:rPr lang="en-US" sz="1200" b="0" i="0" u="none" strike="noStrike" cap="none">
                <a:solidFill>
                  <a:srgbClr val="2C4A3F"/>
                </a:solidFill>
                <a:latin typeface="Lato"/>
                <a:ea typeface="Lato"/>
                <a:cs typeface="Lato"/>
                <a:sym typeface="Lato"/>
              </a:rPr>
              <a:t> Agricultural workers in drought and flood plains whose seasonal crop yields depend directly on predictable seasonal rainfall and climate patterns.</a:t>
            </a:r>
            <a:endParaRPr/>
          </a:p>
        </p:txBody>
      </p:sp>
      <p:sp>
        <p:nvSpPr>
          <p:cNvPr id="172" name="Google Shape;172;p16"/>
          <p:cNvSpPr txBox="1"/>
          <p:nvPr/>
        </p:nvSpPr>
        <p:spPr>
          <a:xfrm>
            <a:off x="1057275" y="4261395"/>
            <a:ext cx="4505325"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2C4A3F"/>
                </a:solidFill>
                <a:latin typeface="Lato"/>
                <a:ea typeface="Lato"/>
                <a:cs typeface="Lato"/>
                <a:sym typeface="Lato"/>
              </a:rPr>
              <a:t>System Benefits:</a:t>
            </a:r>
            <a:r>
              <a:rPr lang="en-US" sz="1200" b="0" i="0" u="none" strike="noStrike" cap="none">
                <a:solidFill>
                  <a:srgbClr val="2C4A3F"/>
                </a:solidFill>
                <a:latin typeface="Lato"/>
                <a:ea typeface="Lato"/>
                <a:cs typeface="Lato"/>
                <a:sym typeface="Lato"/>
              </a:rPr>
              <a:t> Offers 7-14 day localized rainfall trends, smart drought soil advisories, and unseasonal weather alerts translated in 5 regional Indian languages.</a:t>
            </a:r>
            <a:endParaRPr/>
          </a:p>
        </p:txBody>
      </p:sp>
      <p:pic>
        <p:nvPicPr>
          <p:cNvPr id="173" name="Google Shape;173;p16" descr="image.png"/>
          <p:cNvPicPr preferRelativeResize="0"/>
          <p:nvPr/>
        </p:nvPicPr>
        <p:blipFill rotWithShape="1">
          <a:blip r:embed="rId7">
            <a:alphaModFix/>
          </a:blip>
          <a:srcRect/>
          <a:stretch/>
        </p:blipFill>
        <p:spPr>
          <a:xfrm>
            <a:off x="6629400" y="2546895"/>
            <a:ext cx="2228850" cy="333375"/>
          </a:xfrm>
          <a:prstGeom prst="rect">
            <a:avLst/>
          </a:prstGeom>
          <a:noFill/>
          <a:ln>
            <a:noFill/>
          </a:ln>
        </p:spPr>
      </p:pic>
      <p:sp>
        <p:nvSpPr>
          <p:cNvPr id="174" name="Google Shape;174;p16"/>
          <p:cNvSpPr txBox="1"/>
          <p:nvPr/>
        </p:nvSpPr>
        <p:spPr>
          <a:xfrm>
            <a:off x="6629400" y="2975520"/>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59669"/>
                </a:solidFill>
                <a:latin typeface="Poppins"/>
                <a:ea typeface="Poppins"/>
                <a:cs typeface="Poppins"/>
                <a:sym typeface="Poppins"/>
              </a:rPr>
              <a:t>Coastal Communities</a:t>
            </a:r>
            <a:endParaRPr/>
          </a:p>
        </p:txBody>
      </p:sp>
      <p:sp>
        <p:nvSpPr>
          <p:cNvPr id="175" name="Google Shape;175;p16"/>
          <p:cNvSpPr txBox="1"/>
          <p:nvPr/>
        </p:nvSpPr>
        <p:spPr>
          <a:xfrm>
            <a:off x="6629400" y="3461295"/>
            <a:ext cx="4505325"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2C4A3F"/>
                </a:solidFill>
                <a:latin typeface="Lato"/>
                <a:ea typeface="Lato"/>
                <a:cs typeface="Lato"/>
                <a:sym typeface="Lato"/>
              </a:rPr>
              <a:t>Context:</a:t>
            </a:r>
            <a:r>
              <a:rPr lang="en-US" sz="1200" b="0" i="0" u="none" strike="noStrike" cap="none">
                <a:solidFill>
                  <a:srgbClr val="2C4A3F"/>
                </a:solidFill>
                <a:latin typeface="Lato"/>
                <a:ea typeface="Lato"/>
                <a:cs typeface="Lato"/>
                <a:sym typeface="Lato"/>
              </a:rPr>
              <a:t> Marginalized fishing families living in coastal states like Andhra Pradesh and West Bengal, highly vulnerable to high tides and storm surges.</a:t>
            </a:r>
            <a:endParaRPr/>
          </a:p>
        </p:txBody>
      </p:sp>
      <p:sp>
        <p:nvSpPr>
          <p:cNvPr id="176" name="Google Shape;176;p16"/>
          <p:cNvSpPr txBox="1"/>
          <p:nvPr/>
        </p:nvSpPr>
        <p:spPr>
          <a:xfrm>
            <a:off x="6629400" y="4261395"/>
            <a:ext cx="4505325"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2C4A3F"/>
                </a:solidFill>
                <a:latin typeface="Lato"/>
                <a:ea typeface="Lato"/>
                <a:cs typeface="Lato"/>
                <a:sym typeface="Lato"/>
              </a:rPr>
              <a:t>System Benefits:</a:t>
            </a:r>
            <a:r>
              <a:rPr lang="en-US" sz="1200" b="0" i="0" u="none" strike="noStrike" cap="none">
                <a:solidFill>
                  <a:srgbClr val="2C4A3F"/>
                </a:solidFill>
                <a:latin typeface="Lato"/>
                <a:ea typeface="Lato"/>
                <a:cs typeface="Lato"/>
                <a:sym typeface="Lato"/>
              </a:rPr>
              <a:t> Translates predictive radar alerts into 48-72 hour localized warnings, tracking cyclone trajectories, safe sailing zones, and emergency evacuation routes.</a:t>
            </a:r>
            <a:endParaRPr/>
          </a:p>
        </p:txBody>
      </p:sp>
      <p:sp>
        <p:nvSpPr>
          <p:cNvPr id="177" name="Google Shape;177;p16"/>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Target User Personas</a:t>
            </a:r>
            <a:endParaRPr/>
          </a:p>
        </p:txBody>
      </p:sp>
      <p:sp>
        <p:nvSpPr>
          <p:cNvPr id="178" name="Google Shape;178;p16"/>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182"/>
        <p:cNvGrpSpPr/>
        <p:nvPr/>
      </p:nvGrpSpPr>
      <p:grpSpPr>
        <a:xfrm>
          <a:off x="0" y="0"/>
          <a:ext cx="0" cy="0"/>
          <a:chOff x="0" y="0"/>
          <a:chExt cx="0" cy="0"/>
        </a:xfrm>
      </p:grpSpPr>
      <p:pic>
        <p:nvPicPr>
          <p:cNvPr id="183" name="Google Shape;18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4" name="Google Shape;184;p17" descr="image.png"/>
          <p:cNvPicPr preferRelativeResize="0"/>
          <p:nvPr/>
        </p:nvPicPr>
        <p:blipFill rotWithShape="1">
          <a:blip r:embed="rId4">
            <a:alphaModFix/>
          </a:blip>
          <a:srcRect/>
          <a:stretch/>
        </p:blipFill>
        <p:spPr>
          <a:xfrm>
            <a:off x="1762125" y="2223045"/>
            <a:ext cx="3048000" cy="3048000"/>
          </a:xfrm>
          <a:prstGeom prst="rect">
            <a:avLst/>
          </a:prstGeom>
          <a:noFill/>
          <a:ln>
            <a:noFill/>
          </a:ln>
        </p:spPr>
      </p:pic>
      <p:sp>
        <p:nvSpPr>
          <p:cNvPr id="185" name="Google Shape;185;p17"/>
          <p:cNvSpPr txBox="1"/>
          <p:nvPr/>
        </p:nvSpPr>
        <p:spPr>
          <a:xfrm>
            <a:off x="6286500" y="2346870"/>
            <a:ext cx="5500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E3A2F"/>
                </a:solidFill>
                <a:latin typeface="Poppins"/>
                <a:ea typeface="Poppins"/>
                <a:cs typeface="Poppins"/>
                <a:sym typeface="Poppins"/>
              </a:rPr>
              <a:t>Bridging the Tech Divide</a:t>
            </a:r>
            <a:endParaRPr/>
          </a:p>
        </p:txBody>
      </p:sp>
      <p:sp>
        <p:nvSpPr>
          <p:cNvPr id="186" name="Google Shape;186;p17"/>
          <p:cNvSpPr txBox="1"/>
          <p:nvPr/>
        </p:nvSpPr>
        <p:spPr>
          <a:xfrm>
            <a:off x="6286500" y="2889795"/>
            <a:ext cx="5238900" cy="461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4A3F"/>
                </a:solidFill>
                <a:latin typeface="Lato"/>
                <a:ea typeface="Lato"/>
                <a:cs typeface="Lato"/>
                <a:sym typeface="Lato"/>
              </a:rPr>
              <a:t>Traditional regional meteorology forecasts suffer from fundamental limitations that weaken adaptive responses:</a:t>
            </a:r>
            <a:endParaRPr/>
          </a:p>
        </p:txBody>
      </p:sp>
      <p:pic>
        <p:nvPicPr>
          <p:cNvPr id="187" name="Google Shape;187;p17" descr="image.png"/>
          <p:cNvPicPr preferRelativeResize="0"/>
          <p:nvPr/>
        </p:nvPicPr>
        <p:blipFill rotWithShape="1">
          <a:blip r:embed="rId5">
            <a:alphaModFix/>
          </a:blip>
          <a:srcRect/>
          <a:stretch/>
        </p:blipFill>
        <p:spPr>
          <a:xfrm>
            <a:off x="1819275" y="2280195"/>
            <a:ext cx="2933700" cy="2933700"/>
          </a:xfrm>
          <a:prstGeom prst="rect">
            <a:avLst/>
          </a:prstGeom>
          <a:noFill/>
          <a:ln>
            <a:noFill/>
          </a:ln>
        </p:spPr>
      </p:pic>
      <p:sp>
        <p:nvSpPr>
          <p:cNvPr id="188" name="Google Shape;188;p17"/>
          <p:cNvSpPr txBox="1"/>
          <p:nvPr/>
        </p:nvSpPr>
        <p:spPr>
          <a:xfrm>
            <a:off x="6572250" y="3461295"/>
            <a:ext cx="4953000" cy="43290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0E3A2F"/>
                </a:solidFill>
                <a:latin typeface="Lato"/>
                <a:ea typeface="Lato"/>
                <a:cs typeface="Lato"/>
                <a:sym typeface="Lato"/>
              </a:rPr>
              <a:t>Lack of Personalization:</a:t>
            </a:r>
            <a:r>
              <a:rPr lang="en-US" sz="1125" b="0" i="0" u="none" strike="noStrike" cap="none">
                <a:solidFill>
                  <a:srgbClr val="2C4A3F"/>
                </a:solidFill>
                <a:latin typeface="Lato"/>
                <a:ea typeface="Lato"/>
                <a:cs typeface="Lato"/>
                <a:sym typeface="Lato"/>
              </a:rPr>
              <a:t> Standard warnings are broad, lacking local grid precision.</a:t>
            </a:r>
            <a:endParaRPr/>
          </a:p>
        </p:txBody>
      </p:sp>
      <p:sp>
        <p:nvSpPr>
          <p:cNvPr id="189" name="Google Shape;189;p17"/>
          <p:cNvSpPr txBox="1"/>
          <p:nvPr/>
        </p:nvSpPr>
        <p:spPr>
          <a:xfrm>
            <a:off x="6572250" y="4023270"/>
            <a:ext cx="4953000" cy="43290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0E3A2F"/>
                </a:solidFill>
                <a:latin typeface="Lato"/>
                <a:ea typeface="Lato"/>
                <a:cs typeface="Lato"/>
                <a:sym typeface="Lato"/>
              </a:rPr>
              <a:t>Ineffective Last-Mile Delivery:</a:t>
            </a:r>
            <a:r>
              <a:rPr lang="en-US" sz="1125" b="0" i="0" u="none" strike="noStrike" cap="none">
                <a:solidFill>
                  <a:srgbClr val="2C4A3F"/>
                </a:solidFill>
                <a:latin typeface="Lato"/>
                <a:ea typeface="Lato"/>
                <a:cs typeface="Lato"/>
                <a:sym typeface="Lato"/>
              </a:rPr>
              <a:t> Vital warning signals fail to reach rural households.</a:t>
            </a:r>
            <a:endParaRPr/>
          </a:p>
        </p:txBody>
      </p:sp>
      <p:sp>
        <p:nvSpPr>
          <p:cNvPr id="190" name="Google Shape;190;p17"/>
          <p:cNvSpPr txBox="1"/>
          <p:nvPr/>
        </p:nvSpPr>
        <p:spPr>
          <a:xfrm>
            <a:off x="6572250" y="4585245"/>
            <a:ext cx="4953000" cy="43290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0E3A2F"/>
                </a:solidFill>
                <a:latin typeface="Lato"/>
                <a:ea typeface="Lato"/>
                <a:cs typeface="Lato"/>
                <a:sym typeface="Lato"/>
              </a:rPr>
              <a:t>Reactive Posture:</a:t>
            </a:r>
            <a:r>
              <a:rPr lang="en-US" sz="1125" b="0" i="0" u="none" strike="noStrike" cap="none">
                <a:solidFill>
                  <a:srgbClr val="2C4A3F"/>
                </a:solidFill>
                <a:latin typeface="Lato"/>
                <a:ea typeface="Lato"/>
                <a:cs typeface="Lato"/>
                <a:sym typeface="Lato"/>
              </a:rPr>
              <a:t> Systems prompt alerts hours before, precluding preventive actions.</a:t>
            </a:r>
            <a:endParaRPr/>
          </a:p>
        </p:txBody>
      </p:sp>
      <p:pic>
        <p:nvPicPr>
          <p:cNvPr id="191" name="Google Shape;191;p17" descr="image.png"/>
          <p:cNvPicPr preferRelativeResize="0"/>
          <p:nvPr/>
        </p:nvPicPr>
        <p:blipFill rotWithShape="1">
          <a:blip r:embed="rId6">
            <a:alphaModFix/>
          </a:blip>
          <a:srcRect/>
          <a:stretch/>
        </p:blipFill>
        <p:spPr>
          <a:xfrm>
            <a:off x="6334125" y="3456533"/>
            <a:ext cx="171450" cy="180975"/>
          </a:xfrm>
          <a:prstGeom prst="rect">
            <a:avLst/>
          </a:prstGeom>
          <a:noFill/>
          <a:ln>
            <a:noFill/>
          </a:ln>
        </p:spPr>
      </p:pic>
      <p:pic>
        <p:nvPicPr>
          <p:cNvPr id="192" name="Google Shape;192;p17" descr="image.png"/>
          <p:cNvPicPr preferRelativeResize="0"/>
          <p:nvPr/>
        </p:nvPicPr>
        <p:blipFill rotWithShape="1">
          <a:blip r:embed="rId6">
            <a:alphaModFix/>
          </a:blip>
          <a:srcRect/>
          <a:stretch/>
        </p:blipFill>
        <p:spPr>
          <a:xfrm>
            <a:off x="6334125" y="4018508"/>
            <a:ext cx="171450" cy="180975"/>
          </a:xfrm>
          <a:prstGeom prst="rect">
            <a:avLst/>
          </a:prstGeom>
          <a:noFill/>
          <a:ln>
            <a:noFill/>
          </a:ln>
        </p:spPr>
      </p:pic>
      <p:pic>
        <p:nvPicPr>
          <p:cNvPr id="193" name="Google Shape;193;p17" descr="image.png"/>
          <p:cNvPicPr preferRelativeResize="0"/>
          <p:nvPr/>
        </p:nvPicPr>
        <p:blipFill rotWithShape="1">
          <a:blip r:embed="rId6">
            <a:alphaModFix/>
          </a:blip>
          <a:srcRect/>
          <a:stretch/>
        </p:blipFill>
        <p:spPr>
          <a:xfrm>
            <a:off x="6334125" y="4580483"/>
            <a:ext cx="171450" cy="180975"/>
          </a:xfrm>
          <a:prstGeom prst="rect">
            <a:avLst/>
          </a:prstGeom>
          <a:noFill/>
          <a:ln>
            <a:noFill/>
          </a:ln>
        </p:spPr>
      </p:pic>
      <p:sp>
        <p:nvSpPr>
          <p:cNvPr id="194" name="Google Shape;194;p17"/>
          <p:cNvSpPr txBox="1"/>
          <p:nvPr/>
        </p:nvSpPr>
        <p:spPr>
          <a:xfrm>
            <a:off x="809625" y="476250"/>
            <a:ext cx="11251500" cy="4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The Weather Information Gap</a:t>
            </a:r>
            <a:endParaRPr/>
          </a:p>
        </p:txBody>
      </p:sp>
      <p:sp>
        <p:nvSpPr>
          <p:cNvPr id="195" name="Google Shape;195;p17"/>
          <p:cNvSpPr/>
          <p:nvPr/>
        </p:nvSpPr>
        <p:spPr>
          <a:xfrm>
            <a:off x="666750" y="476250"/>
            <a:ext cx="57300" cy="3981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199"/>
        <p:cNvGrpSpPr/>
        <p:nvPr/>
      </p:nvGrpSpPr>
      <p:grpSpPr>
        <a:xfrm>
          <a:off x="0" y="0"/>
          <a:ext cx="0" cy="0"/>
          <a:chOff x="0" y="0"/>
          <a:chExt cx="0" cy="0"/>
        </a:xfrm>
      </p:grpSpPr>
      <p:pic>
        <p:nvPicPr>
          <p:cNvPr id="200" name="Google Shape;20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1" name="Google Shape;201;p18"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02" name="Google Shape;202;p18"/>
          <p:cNvSpPr/>
          <p:nvPr/>
        </p:nvSpPr>
        <p:spPr>
          <a:xfrm>
            <a:off x="5524500" y="2619375"/>
            <a:ext cx="1143000" cy="381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3" name="Google Shape;203;p18"/>
          <p:cNvSpPr txBox="1"/>
          <p:nvPr/>
        </p:nvSpPr>
        <p:spPr>
          <a:xfrm>
            <a:off x="587811" y="2895600"/>
            <a:ext cx="11016376"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AFDFB"/>
                </a:solidFill>
                <a:latin typeface="Poppins"/>
                <a:ea typeface="Poppins"/>
                <a:cs typeface="Poppins"/>
                <a:sym typeface="Poppins"/>
              </a:rPr>
              <a:t>Part II: AI Solution &amp; Technical Modeling</a:t>
            </a:r>
            <a:endParaRPr/>
          </a:p>
        </p:txBody>
      </p:sp>
      <p:sp>
        <p:nvSpPr>
          <p:cNvPr id="204" name="Google Shape;204;p18"/>
          <p:cNvSpPr txBox="1"/>
          <p:nvPr/>
        </p:nvSpPr>
        <p:spPr>
          <a:xfrm>
            <a:off x="2286000" y="3848100"/>
            <a:ext cx="7620000" cy="6286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A7F3D0"/>
                </a:solidFill>
                <a:latin typeface="Lato"/>
                <a:ea typeface="Lato"/>
                <a:cs typeface="Lato"/>
                <a:sym typeface="Lato"/>
              </a:rPr>
              <a:t>Architecting an end-to-end telemetry workflow built on machine learning and predictive satellite streams.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208"/>
        <p:cNvGrpSpPr/>
        <p:nvPr/>
      </p:nvGrpSpPr>
      <p:grpSpPr>
        <a:xfrm>
          <a:off x="0" y="0"/>
          <a:ext cx="0" cy="0"/>
          <a:chOff x="0" y="0"/>
          <a:chExt cx="0" cy="0"/>
        </a:xfrm>
      </p:grpSpPr>
      <p:pic>
        <p:nvPicPr>
          <p:cNvPr id="209" name="Google Shape;209;p19" descr="image.png"/>
          <p:cNvPicPr preferRelativeResize="0"/>
          <p:nvPr/>
        </p:nvPicPr>
        <p:blipFill rotWithShape="1">
          <a:blip r:embed="rId3">
            <a:alphaModFix/>
          </a:blip>
          <a:srcRect/>
          <a:stretch/>
        </p:blipFill>
        <p:spPr>
          <a:xfrm>
            <a:off x="9525" y="0"/>
            <a:ext cx="12192000" cy="6858000"/>
          </a:xfrm>
          <a:prstGeom prst="rect">
            <a:avLst/>
          </a:prstGeom>
          <a:noFill/>
          <a:ln>
            <a:noFill/>
          </a:ln>
        </p:spPr>
      </p:pic>
      <p:sp>
        <p:nvSpPr>
          <p:cNvPr id="210" name="Google Shape;210;p19"/>
          <p:cNvSpPr txBox="1"/>
          <p:nvPr/>
        </p:nvSpPr>
        <p:spPr>
          <a:xfrm>
            <a:off x="666750" y="195188"/>
            <a:ext cx="5700712"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dirty="0">
                <a:solidFill>
                  <a:srgbClr val="0E3A2F"/>
                </a:solidFill>
                <a:latin typeface="Poppins"/>
                <a:ea typeface="Poppins"/>
                <a:cs typeface="Poppins"/>
                <a:sym typeface="Poppins"/>
              </a:rPr>
              <a:t>How the AI Works</a:t>
            </a:r>
            <a:endParaRPr dirty="0"/>
          </a:p>
        </p:txBody>
      </p:sp>
      <p:pic>
        <p:nvPicPr>
          <p:cNvPr id="211" name="Google Shape;211;p19" descr="image.png"/>
          <p:cNvPicPr preferRelativeResize="0"/>
          <p:nvPr/>
        </p:nvPicPr>
        <p:blipFill rotWithShape="1">
          <a:blip r:embed="rId4">
            <a:alphaModFix/>
          </a:blip>
          <a:srcRect/>
          <a:stretch/>
        </p:blipFill>
        <p:spPr>
          <a:xfrm>
            <a:off x="6224300" y="0"/>
            <a:ext cx="5967701" cy="6858000"/>
          </a:xfrm>
          <a:prstGeom prst="rect">
            <a:avLst/>
          </a:prstGeom>
          <a:noFill/>
          <a:ln>
            <a:noFill/>
          </a:ln>
        </p:spPr>
      </p:pic>
      <p:sp>
        <p:nvSpPr>
          <p:cNvPr id="212" name="Google Shape;212;p19"/>
          <p:cNvSpPr txBox="1"/>
          <p:nvPr/>
        </p:nvSpPr>
        <p:spPr>
          <a:xfrm>
            <a:off x="666750" y="788491"/>
            <a:ext cx="570071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E3A2F"/>
                </a:solidFill>
                <a:latin typeface="Poppins"/>
                <a:ea typeface="Poppins"/>
                <a:cs typeface="Poppins"/>
                <a:sym typeface="Poppins"/>
              </a:rPr>
              <a:t>Predictive Earth Models</a:t>
            </a:r>
            <a:endParaRPr dirty="0"/>
          </a:p>
        </p:txBody>
      </p:sp>
      <p:sp>
        <p:nvSpPr>
          <p:cNvPr id="213" name="Google Shape;213;p19"/>
          <p:cNvSpPr txBox="1"/>
          <p:nvPr/>
        </p:nvSpPr>
        <p:spPr>
          <a:xfrm>
            <a:off x="666750" y="1212318"/>
            <a:ext cx="54292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2C4A3F"/>
                </a:solidFill>
                <a:latin typeface="Lato"/>
                <a:ea typeface="Lato"/>
                <a:cs typeface="Lato"/>
                <a:sym typeface="Lato"/>
              </a:rPr>
              <a:t>By shifting from simple reactive tracking to a machine learning infrastructure, the system continuously assimilates live feeds from Indian and international earth telemetry hubs.</a:t>
            </a:r>
            <a:endParaRPr dirty="0"/>
          </a:p>
        </p:txBody>
      </p:sp>
      <p:sp>
        <p:nvSpPr>
          <p:cNvPr id="214" name="Google Shape;214;p19"/>
          <p:cNvSpPr txBox="1"/>
          <p:nvPr/>
        </p:nvSpPr>
        <p:spPr>
          <a:xfrm>
            <a:off x="659176" y="2256552"/>
            <a:ext cx="542925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2C4A3F"/>
                </a:solidFill>
                <a:latin typeface="Lato"/>
                <a:ea typeface="Lato"/>
                <a:cs typeface="Lato"/>
                <a:sym typeface="Lato"/>
              </a:rPr>
              <a:t>The platform aggregates multi-spectral satellite streams from </a:t>
            </a:r>
            <a:r>
              <a:rPr lang="en-US" sz="1350" b="1" i="0" u="none" strike="noStrike" cap="none" dirty="0">
                <a:solidFill>
                  <a:srgbClr val="2C4A3F"/>
                </a:solidFill>
                <a:latin typeface="Lato"/>
                <a:ea typeface="Lato"/>
                <a:cs typeface="Lato"/>
                <a:sym typeface="Lato"/>
              </a:rPr>
              <a:t>ISRO Bhuvan</a:t>
            </a:r>
            <a:r>
              <a:rPr lang="en-US" sz="1350" b="0" i="0" u="none" strike="noStrike" cap="none" dirty="0">
                <a:solidFill>
                  <a:srgbClr val="2C4A3F"/>
                </a:solidFill>
                <a:latin typeface="Lato"/>
                <a:ea typeface="Lato"/>
                <a:cs typeface="Lato"/>
                <a:sym typeface="Lato"/>
              </a:rPr>
              <a:t> and </a:t>
            </a:r>
            <a:r>
              <a:rPr lang="en-US" sz="1350" b="1" i="0" u="none" strike="noStrike" cap="none" dirty="0">
                <a:solidFill>
                  <a:srgbClr val="2C4A3F"/>
                </a:solidFill>
                <a:latin typeface="Lato"/>
                <a:ea typeface="Lato"/>
                <a:cs typeface="Lato"/>
                <a:sym typeface="Lato"/>
              </a:rPr>
              <a:t>NASA </a:t>
            </a:r>
            <a:r>
              <a:rPr lang="en-US" sz="1350" b="1" i="0" u="none" strike="noStrike" cap="none" dirty="0" err="1">
                <a:solidFill>
                  <a:srgbClr val="2C4A3F"/>
                </a:solidFill>
                <a:latin typeface="Lato"/>
                <a:ea typeface="Lato"/>
                <a:cs typeface="Lato"/>
                <a:sym typeface="Lato"/>
              </a:rPr>
              <a:t>EarthData</a:t>
            </a:r>
            <a:r>
              <a:rPr lang="en-US" sz="1350" b="0" i="0" u="none" strike="noStrike" cap="none" dirty="0">
                <a:solidFill>
                  <a:srgbClr val="2C4A3F"/>
                </a:solidFill>
                <a:latin typeface="Lato"/>
                <a:ea typeface="Lato"/>
                <a:cs typeface="Lato"/>
                <a:sym typeface="Lato"/>
              </a:rPr>
              <a:t> alongside local </a:t>
            </a:r>
            <a:r>
              <a:rPr lang="en-US" sz="1350" b="1" i="0" u="none" strike="noStrike" cap="none" dirty="0">
                <a:solidFill>
                  <a:srgbClr val="2C4A3F"/>
                </a:solidFill>
                <a:latin typeface="Lato"/>
                <a:ea typeface="Lato"/>
                <a:cs typeface="Lato"/>
                <a:sym typeface="Lato"/>
              </a:rPr>
              <a:t>IMD</a:t>
            </a:r>
            <a:r>
              <a:rPr lang="en-US" sz="1350" b="0" i="0" u="none" strike="noStrike" cap="none" dirty="0">
                <a:solidFill>
                  <a:srgbClr val="2C4A3F"/>
                </a:solidFill>
                <a:latin typeface="Lato"/>
                <a:ea typeface="Lato"/>
                <a:cs typeface="Lato"/>
                <a:sym typeface="Lato"/>
              </a:rPr>
              <a:t> (Indian Meteorological Department) observations to compute dynamic hazard coefficients before disasters strike.</a:t>
            </a:r>
            <a:endParaRPr dirty="0"/>
          </a:p>
        </p:txBody>
      </p:sp>
      <p:sp>
        <p:nvSpPr>
          <p:cNvPr id="2" name="Rectangle 1">
            <a:extLst>
              <a:ext uri="{FF2B5EF4-FFF2-40B4-BE49-F238E27FC236}">
                <a16:creationId xmlns:a16="http://schemas.microsoft.com/office/drawing/2014/main" id="{A5E1C2E8-D2F4-A452-1FD6-4517C76502F0}"/>
              </a:ext>
            </a:extLst>
          </p:cNvPr>
          <p:cNvSpPr/>
          <p:nvPr/>
        </p:nvSpPr>
        <p:spPr>
          <a:xfrm>
            <a:off x="10687049" y="6210300"/>
            <a:ext cx="1295401" cy="3429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2A97BA2-401E-0C87-0D73-E7AB8B0BFF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25" y="3826296"/>
            <a:ext cx="6205252" cy="3031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218"/>
        <p:cNvGrpSpPr/>
        <p:nvPr/>
      </p:nvGrpSpPr>
      <p:grpSpPr>
        <a:xfrm>
          <a:off x="0" y="0"/>
          <a:ext cx="0" cy="0"/>
          <a:chOff x="0" y="0"/>
          <a:chExt cx="0" cy="0"/>
        </a:xfrm>
      </p:grpSpPr>
      <p:pic>
        <p:nvPicPr>
          <p:cNvPr id="219" name="Google Shape;219;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0" name="Google Shape;220;p20" descr="image.png"/>
          <p:cNvPicPr preferRelativeResize="0"/>
          <p:nvPr/>
        </p:nvPicPr>
        <p:blipFill rotWithShape="1">
          <a:blip r:embed="rId4">
            <a:alphaModFix/>
          </a:blip>
          <a:srcRect/>
          <a:stretch/>
        </p:blipFill>
        <p:spPr>
          <a:xfrm>
            <a:off x="666750" y="1965870"/>
            <a:ext cx="10858500" cy="3562350"/>
          </a:xfrm>
          <a:prstGeom prst="rect">
            <a:avLst/>
          </a:prstGeom>
          <a:noFill/>
          <a:ln>
            <a:noFill/>
          </a:ln>
        </p:spPr>
      </p:pic>
      <p:graphicFrame>
        <p:nvGraphicFramePr>
          <p:cNvPr id="221" name="Google Shape;221;p20"/>
          <p:cNvGraphicFramePr/>
          <p:nvPr/>
        </p:nvGraphicFramePr>
        <p:xfrm>
          <a:off x="676275" y="1975395"/>
          <a:ext cx="10839425" cy="3543250"/>
        </p:xfrm>
        <a:graphic>
          <a:graphicData uri="http://schemas.openxmlformats.org/drawingml/2006/table">
            <a:tbl>
              <a:tblPr firstRow="1" bandRow="1">
                <a:noFill/>
                <a:tableStyleId>{67ECF497-6C0B-41B7-8775-31B366413254}</a:tableStyleId>
              </a:tblPr>
              <a:tblGrid>
                <a:gridCol w="2709850">
                  <a:extLst>
                    <a:ext uri="{9D8B030D-6E8A-4147-A177-3AD203B41FA5}">
                      <a16:colId xmlns:a16="http://schemas.microsoft.com/office/drawing/2014/main" val="20000"/>
                    </a:ext>
                  </a:extLst>
                </a:gridCol>
                <a:gridCol w="5419725">
                  <a:extLst>
                    <a:ext uri="{9D8B030D-6E8A-4147-A177-3AD203B41FA5}">
                      <a16:colId xmlns:a16="http://schemas.microsoft.com/office/drawing/2014/main" val="20001"/>
                    </a:ext>
                  </a:extLst>
                </a:gridCol>
                <a:gridCol w="2709850">
                  <a:extLst>
                    <a:ext uri="{9D8B030D-6E8A-4147-A177-3AD203B41FA5}">
                      <a16:colId xmlns:a16="http://schemas.microsoft.com/office/drawing/2014/main" val="20002"/>
                    </a:ext>
                  </a:extLst>
                </a:gridCol>
              </a:tblGrid>
              <a:tr h="708650">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AI Model Technique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Operational Processing Application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Validated Accuracy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extLst>
                  <a:ext uri="{0D108BD9-81ED-4DB2-BD59-A6C34878D82A}">
                    <a16:rowId xmlns:a16="http://schemas.microsoft.com/office/drawing/2014/main" val="10000"/>
                  </a:ext>
                </a:extLst>
              </a:tr>
              <a:tr h="70865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Time-Series (LSTM)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Learns long-term weather variables for precise regional temperature &amp; precipitation forecasting.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dirty="0">
                          <a:solidFill>
                            <a:srgbClr val="059669"/>
                          </a:solidFill>
                          <a:latin typeface="Lato"/>
                          <a:ea typeface="Lato"/>
                          <a:cs typeface="Lato"/>
                          <a:sym typeface="Lato"/>
                        </a:rPr>
                        <a:t> 80% - 85% Accuracy</a:t>
                      </a:r>
                      <a:endParaRPr dirty="0"/>
                    </a:p>
                  </a:txBody>
                  <a:tcPr marL="2857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0865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Random Forest &amp; XGBoost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Classifies climate threats into tiered operational triggers (Low, Mid, High, Extreme).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059669"/>
                          </a:solidFill>
                          <a:latin typeface="Lato"/>
                          <a:ea typeface="Lato"/>
                          <a:cs typeface="Lato"/>
                          <a:sym typeface="Lato"/>
                        </a:rPr>
                        <a:t> Highly Stable Decision Triggers</a:t>
                      </a:r>
                      <a:endParaRPr/>
                    </a:p>
                  </a:txBody>
                  <a:tcPr marL="2857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extLst>
                  <a:ext uri="{0D108BD9-81ED-4DB2-BD59-A6C34878D82A}">
                    <a16:rowId xmlns:a16="http://schemas.microsoft.com/office/drawing/2014/main" val="10002"/>
                  </a:ext>
                </a:extLst>
              </a:tr>
              <a:tr h="70865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Computer Vision (CNN)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Assesses vegetation indexes, structural crop changes, and localized flood expansions from satellite maps.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059669"/>
                          </a:solidFill>
                          <a:latin typeface="Lato"/>
                          <a:ea typeface="Lato"/>
                          <a:cs typeface="Lato"/>
                          <a:sym typeface="Lato"/>
                        </a:rPr>
                        <a:t> Hyper-local Spatial Tracking</a:t>
                      </a:r>
                      <a:endParaRPr/>
                    </a:p>
                  </a:txBody>
                  <a:tcPr marL="2857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0865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Ensemble Techniques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Consolidates outputs across distinct model arrays to deliver uniform, stable risk outputs.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dirty="0">
                          <a:solidFill>
                            <a:srgbClr val="059669"/>
                          </a:solidFill>
                          <a:latin typeface="Lato"/>
                          <a:ea typeface="Lato"/>
                          <a:cs typeface="Lato"/>
                          <a:sym typeface="Lato"/>
                        </a:rPr>
                        <a:t> +5-10% Metric Boost</a:t>
                      </a:r>
                      <a:endParaRPr dirty="0"/>
                    </a:p>
                  </a:txBody>
                  <a:tcPr marL="2857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extLst>
                  <a:ext uri="{0D108BD9-81ED-4DB2-BD59-A6C34878D82A}">
                    <a16:rowId xmlns:a16="http://schemas.microsoft.com/office/drawing/2014/main" val="10004"/>
                  </a:ext>
                </a:extLst>
              </a:tr>
            </a:tbl>
          </a:graphicData>
        </a:graphic>
      </p:graphicFrame>
      <p:sp>
        <p:nvSpPr>
          <p:cNvPr id="222" name="Google Shape;222;p20"/>
          <p:cNvSpPr/>
          <p:nvPr/>
        </p:nvSpPr>
        <p:spPr>
          <a:xfrm>
            <a:off x="676275" y="3189833"/>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20"/>
          <p:cNvSpPr/>
          <p:nvPr/>
        </p:nvSpPr>
        <p:spPr>
          <a:xfrm>
            <a:off x="3386137" y="3189833"/>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0"/>
          <p:cNvSpPr/>
          <p:nvPr/>
        </p:nvSpPr>
        <p:spPr>
          <a:xfrm>
            <a:off x="8805862" y="3189833"/>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20"/>
          <p:cNvSpPr/>
          <p:nvPr/>
        </p:nvSpPr>
        <p:spPr>
          <a:xfrm>
            <a:off x="676275" y="3980408"/>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20"/>
          <p:cNvSpPr/>
          <p:nvPr/>
        </p:nvSpPr>
        <p:spPr>
          <a:xfrm>
            <a:off x="3386137" y="3980408"/>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0"/>
          <p:cNvSpPr/>
          <p:nvPr/>
        </p:nvSpPr>
        <p:spPr>
          <a:xfrm>
            <a:off x="8805862" y="3980408"/>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20"/>
          <p:cNvSpPr/>
          <p:nvPr/>
        </p:nvSpPr>
        <p:spPr>
          <a:xfrm>
            <a:off x="676275" y="4770983"/>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0"/>
          <p:cNvSpPr/>
          <p:nvPr/>
        </p:nvSpPr>
        <p:spPr>
          <a:xfrm>
            <a:off x="3386137" y="4770983"/>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20"/>
          <p:cNvSpPr/>
          <p:nvPr/>
        </p:nvSpPr>
        <p:spPr>
          <a:xfrm>
            <a:off x="8805862" y="4770983"/>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0"/>
          <p:cNvSpPr/>
          <p:nvPr/>
        </p:nvSpPr>
        <p:spPr>
          <a:xfrm>
            <a:off x="676275" y="5504408"/>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2" name="Google Shape;232;p20"/>
          <p:cNvSpPr/>
          <p:nvPr/>
        </p:nvSpPr>
        <p:spPr>
          <a:xfrm>
            <a:off x="3386137" y="5504408"/>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0"/>
          <p:cNvSpPr/>
          <p:nvPr/>
        </p:nvSpPr>
        <p:spPr>
          <a:xfrm>
            <a:off x="8805862" y="5504408"/>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4" name="Google Shape;234;p20" descr="image.png"/>
          <p:cNvPicPr preferRelativeResize="0"/>
          <p:nvPr/>
        </p:nvPicPr>
        <p:blipFill rotWithShape="1">
          <a:blip r:embed="rId5">
            <a:alphaModFix/>
          </a:blip>
          <a:srcRect/>
          <a:stretch/>
        </p:blipFill>
        <p:spPr>
          <a:xfrm>
            <a:off x="8996362" y="4175670"/>
            <a:ext cx="171450" cy="171450"/>
          </a:xfrm>
          <a:prstGeom prst="rect">
            <a:avLst/>
          </a:prstGeom>
          <a:noFill/>
          <a:ln>
            <a:noFill/>
          </a:ln>
        </p:spPr>
      </p:pic>
      <p:pic>
        <p:nvPicPr>
          <p:cNvPr id="235" name="Google Shape;235;p20" descr="image.png"/>
          <p:cNvPicPr preferRelativeResize="0"/>
          <p:nvPr/>
        </p:nvPicPr>
        <p:blipFill rotWithShape="1">
          <a:blip r:embed="rId6">
            <a:alphaModFix/>
          </a:blip>
          <a:srcRect/>
          <a:stretch/>
        </p:blipFill>
        <p:spPr>
          <a:xfrm>
            <a:off x="8996362" y="2751683"/>
            <a:ext cx="171450" cy="171450"/>
          </a:xfrm>
          <a:prstGeom prst="rect">
            <a:avLst/>
          </a:prstGeom>
          <a:noFill/>
          <a:ln>
            <a:noFill/>
          </a:ln>
        </p:spPr>
      </p:pic>
      <p:pic>
        <p:nvPicPr>
          <p:cNvPr id="236" name="Google Shape;236;p20" descr="image.png"/>
          <p:cNvPicPr preferRelativeResize="0"/>
          <p:nvPr/>
        </p:nvPicPr>
        <p:blipFill rotWithShape="1">
          <a:blip r:embed="rId7">
            <a:alphaModFix/>
          </a:blip>
          <a:srcRect/>
          <a:stretch/>
        </p:blipFill>
        <p:spPr>
          <a:xfrm>
            <a:off x="8996362" y="3385095"/>
            <a:ext cx="171450" cy="171450"/>
          </a:xfrm>
          <a:prstGeom prst="rect">
            <a:avLst/>
          </a:prstGeom>
          <a:noFill/>
          <a:ln>
            <a:noFill/>
          </a:ln>
        </p:spPr>
      </p:pic>
      <p:pic>
        <p:nvPicPr>
          <p:cNvPr id="237" name="Google Shape;237;p20" descr="image.png"/>
          <p:cNvPicPr preferRelativeResize="0"/>
          <p:nvPr/>
        </p:nvPicPr>
        <p:blipFill rotWithShape="1">
          <a:blip r:embed="rId8">
            <a:alphaModFix/>
          </a:blip>
          <a:srcRect/>
          <a:stretch/>
        </p:blipFill>
        <p:spPr>
          <a:xfrm>
            <a:off x="8996362" y="5066258"/>
            <a:ext cx="171450" cy="171450"/>
          </a:xfrm>
          <a:prstGeom prst="rect">
            <a:avLst/>
          </a:prstGeom>
          <a:noFill/>
          <a:ln>
            <a:noFill/>
          </a:ln>
        </p:spPr>
      </p:pic>
      <p:pic>
        <p:nvPicPr>
          <p:cNvPr id="238" name="Google Shape;238;p20" descr="image.png"/>
          <p:cNvPicPr preferRelativeResize="0"/>
          <p:nvPr/>
        </p:nvPicPr>
        <p:blipFill rotWithShape="1">
          <a:blip r:embed="rId6">
            <a:alphaModFix/>
          </a:blip>
          <a:srcRect/>
          <a:stretch/>
        </p:blipFill>
        <p:spPr>
          <a:xfrm>
            <a:off x="8996362" y="2751683"/>
            <a:ext cx="171450" cy="171450"/>
          </a:xfrm>
          <a:prstGeom prst="rect">
            <a:avLst/>
          </a:prstGeom>
          <a:noFill/>
          <a:ln>
            <a:noFill/>
          </a:ln>
        </p:spPr>
      </p:pic>
      <p:pic>
        <p:nvPicPr>
          <p:cNvPr id="239" name="Google Shape;239;p20" descr="image.png"/>
          <p:cNvPicPr preferRelativeResize="0"/>
          <p:nvPr/>
        </p:nvPicPr>
        <p:blipFill rotWithShape="1">
          <a:blip r:embed="rId7">
            <a:alphaModFix/>
          </a:blip>
          <a:srcRect/>
          <a:stretch/>
        </p:blipFill>
        <p:spPr>
          <a:xfrm>
            <a:off x="8996362" y="3385095"/>
            <a:ext cx="171450" cy="171450"/>
          </a:xfrm>
          <a:prstGeom prst="rect">
            <a:avLst/>
          </a:prstGeom>
          <a:noFill/>
          <a:ln>
            <a:noFill/>
          </a:ln>
        </p:spPr>
      </p:pic>
      <p:pic>
        <p:nvPicPr>
          <p:cNvPr id="240" name="Google Shape;240;p20" descr="image.png"/>
          <p:cNvPicPr preferRelativeResize="0"/>
          <p:nvPr/>
        </p:nvPicPr>
        <p:blipFill rotWithShape="1">
          <a:blip r:embed="rId5">
            <a:alphaModFix/>
          </a:blip>
          <a:srcRect/>
          <a:stretch/>
        </p:blipFill>
        <p:spPr>
          <a:xfrm>
            <a:off x="8996362" y="4175670"/>
            <a:ext cx="171450" cy="171450"/>
          </a:xfrm>
          <a:prstGeom prst="rect">
            <a:avLst/>
          </a:prstGeom>
          <a:noFill/>
          <a:ln>
            <a:noFill/>
          </a:ln>
        </p:spPr>
      </p:pic>
      <p:pic>
        <p:nvPicPr>
          <p:cNvPr id="241" name="Google Shape;241;p20" descr="image.png"/>
          <p:cNvPicPr preferRelativeResize="0"/>
          <p:nvPr/>
        </p:nvPicPr>
        <p:blipFill rotWithShape="1">
          <a:blip r:embed="rId8">
            <a:alphaModFix/>
          </a:blip>
          <a:srcRect/>
          <a:stretch/>
        </p:blipFill>
        <p:spPr>
          <a:xfrm>
            <a:off x="8996362" y="5066258"/>
            <a:ext cx="171450" cy="171450"/>
          </a:xfrm>
          <a:prstGeom prst="rect">
            <a:avLst/>
          </a:prstGeom>
          <a:noFill/>
          <a:ln>
            <a:noFill/>
          </a:ln>
        </p:spPr>
      </p:pic>
      <p:sp>
        <p:nvSpPr>
          <p:cNvPr id="242" name="Google Shape;242;p20"/>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AI Engine Modeling Core</a:t>
            </a:r>
            <a:endParaRPr/>
          </a:p>
        </p:txBody>
      </p:sp>
      <p:sp>
        <p:nvSpPr>
          <p:cNvPr id="243" name="Google Shape;243;p20"/>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247"/>
        <p:cNvGrpSpPr/>
        <p:nvPr/>
      </p:nvGrpSpPr>
      <p:grpSpPr>
        <a:xfrm>
          <a:off x="0" y="0"/>
          <a:ext cx="0" cy="0"/>
          <a:chOff x="0" y="0"/>
          <a:chExt cx="0" cy="0"/>
        </a:xfrm>
      </p:grpSpPr>
      <p:pic>
        <p:nvPicPr>
          <p:cNvPr id="248" name="Google Shape;24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3" name="Google Shape;253;p21"/>
          <p:cNvSpPr/>
          <p:nvPr/>
        </p:nvSpPr>
        <p:spPr>
          <a:xfrm>
            <a:off x="666750" y="3727995"/>
            <a:ext cx="10858500" cy="38100"/>
          </a:xfrm>
          <a:prstGeom prst="rect">
            <a:avLst/>
          </a:prstGeom>
          <a:solidFill>
            <a:srgbClr val="D1FA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1"/>
          <p:cNvSpPr txBox="1"/>
          <p:nvPr/>
        </p:nvSpPr>
        <p:spPr>
          <a:xfrm>
            <a:off x="866775" y="3819227"/>
            <a:ext cx="2088229"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59669"/>
                </a:solidFill>
                <a:latin typeface="Poppins"/>
                <a:ea typeface="Poppins"/>
                <a:cs typeface="Poppins"/>
                <a:sym typeface="Poppins"/>
              </a:rPr>
              <a:t>1. Ingestion</a:t>
            </a:r>
            <a:endParaRPr dirty="0"/>
          </a:p>
        </p:txBody>
      </p:sp>
      <p:sp>
        <p:nvSpPr>
          <p:cNvPr id="255" name="Google Shape;255;p21"/>
          <p:cNvSpPr txBox="1"/>
          <p:nvPr/>
        </p:nvSpPr>
        <p:spPr>
          <a:xfrm>
            <a:off x="866775" y="4126259"/>
            <a:ext cx="1988790" cy="74652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a:solidFill>
                  <a:srgbClr val="4B6B5F"/>
                </a:solidFill>
                <a:latin typeface="Lato"/>
                <a:ea typeface="Lato"/>
                <a:cs typeface="Lato"/>
                <a:sym typeface="Lato"/>
              </a:rPr>
              <a:t>Auto-fetches climate datasets from IMD, ISRO, and NASA telemetry endpoints every 15-30 minutes.</a:t>
            </a:r>
            <a:endParaRPr dirty="0"/>
          </a:p>
        </p:txBody>
      </p:sp>
      <p:sp>
        <p:nvSpPr>
          <p:cNvPr id="256" name="Google Shape;256;p21"/>
          <p:cNvSpPr txBox="1"/>
          <p:nvPr/>
        </p:nvSpPr>
        <p:spPr>
          <a:xfrm>
            <a:off x="3689895" y="2696636"/>
            <a:ext cx="2088229"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59669"/>
                </a:solidFill>
                <a:latin typeface="Poppins"/>
                <a:ea typeface="Poppins"/>
                <a:cs typeface="Poppins"/>
                <a:sym typeface="Poppins"/>
              </a:rPr>
              <a:t>2. Analysis</a:t>
            </a:r>
            <a:endParaRPr dirty="0"/>
          </a:p>
        </p:txBody>
      </p:sp>
      <p:sp>
        <p:nvSpPr>
          <p:cNvPr id="257" name="Google Shape;257;p21"/>
          <p:cNvSpPr txBox="1"/>
          <p:nvPr/>
        </p:nvSpPr>
        <p:spPr>
          <a:xfrm>
            <a:off x="3689895" y="2983259"/>
            <a:ext cx="1988700" cy="559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a:solidFill>
                  <a:srgbClr val="4B6B5F"/>
                </a:solidFill>
                <a:latin typeface="Lato"/>
                <a:ea typeface="Lato"/>
                <a:cs typeface="Lato"/>
                <a:sym typeface="Lato"/>
              </a:rPr>
              <a:t>Fills metadata gaps and maps temporal weather features using trained multi-layer LSTM layers.</a:t>
            </a:r>
            <a:endParaRPr dirty="0"/>
          </a:p>
        </p:txBody>
      </p:sp>
      <p:sp>
        <p:nvSpPr>
          <p:cNvPr id="258" name="Google Shape;258;p21"/>
          <p:cNvSpPr txBox="1"/>
          <p:nvPr/>
        </p:nvSpPr>
        <p:spPr>
          <a:xfrm>
            <a:off x="6492478" y="3828234"/>
            <a:ext cx="2088229"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59669"/>
                </a:solidFill>
                <a:latin typeface="Poppins"/>
                <a:ea typeface="Poppins"/>
                <a:cs typeface="Poppins"/>
                <a:sym typeface="Poppins"/>
              </a:rPr>
              <a:t>3. Risk Scoring</a:t>
            </a:r>
            <a:endParaRPr dirty="0"/>
          </a:p>
        </p:txBody>
      </p:sp>
      <p:sp>
        <p:nvSpPr>
          <p:cNvPr id="259" name="Google Shape;259;p21"/>
          <p:cNvSpPr txBox="1"/>
          <p:nvPr/>
        </p:nvSpPr>
        <p:spPr>
          <a:xfrm>
            <a:off x="6513016" y="4126259"/>
            <a:ext cx="1988790" cy="74652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a:solidFill>
                  <a:srgbClr val="4B6B5F"/>
                </a:solidFill>
                <a:latin typeface="Lato"/>
                <a:ea typeface="Lato"/>
                <a:cs typeface="Lato"/>
                <a:sym typeface="Lato"/>
              </a:rPr>
              <a:t>Evaluates localized warning thresholds to assign hazard alert tiers (Low to Extreme warning vectors).</a:t>
            </a:r>
            <a:endParaRPr dirty="0"/>
          </a:p>
        </p:txBody>
      </p:sp>
      <p:sp>
        <p:nvSpPr>
          <p:cNvPr id="260" name="Google Shape;260;p21"/>
          <p:cNvSpPr txBox="1"/>
          <p:nvPr/>
        </p:nvSpPr>
        <p:spPr>
          <a:xfrm>
            <a:off x="9286417" y="2553104"/>
            <a:ext cx="2088229"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59669"/>
                </a:solidFill>
                <a:latin typeface="Poppins"/>
                <a:ea typeface="Poppins"/>
                <a:cs typeface="Poppins"/>
                <a:sym typeface="Poppins"/>
              </a:rPr>
              <a:t>4. Multi-Channel</a:t>
            </a:r>
            <a:endParaRPr dirty="0"/>
          </a:p>
        </p:txBody>
      </p:sp>
      <p:sp>
        <p:nvSpPr>
          <p:cNvPr id="261" name="Google Shape;261;p21"/>
          <p:cNvSpPr txBox="1"/>
          <p:nvPr/>
        </p:nvSpPr>
        <p:spPr>
          <a:xfrm>
            <a:off x="9336136" y="2825406"/>
            <a:ext cx="1988790" cy="74652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a:solidFill>
                  <a:srgbClr val="4B6B5F"/>
                </a:solidFill>
                <a:latin typeface="Lato"/>
                <a:ea typeface="Lato"/>
                <a:cs typeface="Lato"/>
                <a:sym typeface="Lato"/>
              </a:rPr>
              <a:t>Deploys localized warning translations via push notifications, web panels, and SMS alerts.</a:t>
            </a:r>
            <a:endParaRPr dirty="0"/>
          </a:p>
        </p:txBody>
      </p:sp>
      <p:sp>
        <p:nvSpPr>
          <p:cNvPr id="262" name="Google Shape;262;p21"/>
          <p:cNvSpPr txBox="1"/>
          <p:nvPr/>
        </p:nvSpPr>
        <p:spPr>
          <a:xfrm>
            <a:off x="866775" y="42750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Predictive Workflow Pipeline</a:t>
            </a:r>
            <a:endParaRPr/>
          </a:p>
        </p:txBody>
      </p:sp>
      <p:sp>
        <p:nvSpPr>
          <p:cNvPr id="263" name="Google Shape;263;p21"/>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269"/>
        <p:cNvGrpSpPr/>
        <p:nvPr/>
      </p:nvGrpSpPr>
      <p:grpSpPr>
        <a:xfrm>
          <a:off x="0" y="0"/>
          <a:ext cx="0" cy="0"/>
          <a:chOff x="0" y="0"/>
          <a:chExt cx="0" cy="0"/>
        </a:xfrm>
      </p:grpSpPr>
      <p:pic>
        <p:nvPicPr>
          <p:cNvPr id="270" name="Google Shape;270;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1" name="Google Shape;271;p22"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72" name="Google Shape;272;p22"/>
          <p:cNvSpPr/>
          <p:nvPr/>
        </p:nvSpPr>
        <p:spPr>
          <a:xfrm>
            <a:off x="5524500" y="2214562"/>
            <a:ext cx="1143000" cy="381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p22"/>
          <p:cNvSpPr txBox="1"/>
          <p:nvPr/>
        </p:nvSpPr>
        <p:spPr>
          <a:xfrm>
            <a:off x="495300" y="2490787"/>
            <a:ext cx="11201400" cy="1619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AFDFB"/>
                </a:solidFill>
                <a:latin typeface="Poppins"/>
                <a:ea typeface="Poppins"/>
                <a:cs typeface="Poppins"/>
                <a:sym typeface="Poppins"/>
              </a:rPr>
              <a:t>Part III: Working Prototype &amp; AI Architecture</a:t>
            </a:r>
            <a:endParaRPr/>
          </a:p>
        </p:txBody>
      </p:sp>
      <p:sp>
        <p:nvSpPr>
          <p:cNvPr id="274" name="Google Shape;274;p22"/>
          <p:cNvSpPr txBox="1"/>
          <p:nvPr/>
        </p:nvSpPr>
        <p:spPr>
          <a:xfrm>
            <a:off x="2286000" y="4252912"/>
            <a:ext cx="7620000" cy="6286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A7F3D0"/>
                </a:solidFill>
                <a:latin typeface="Lato"/>
                <a:ea typeface="Lato"/>
                <a:cs typeface="Lato"/>
                <a:sym typeface="Lato"/>
              </a:rPr>
              <a:t>Demonstrating our AI Agent workflow, system prompts, vector search logic, and active last-mile advisory pipelines.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278"/>
        <p:cNvGrpSpPr/>
        <p:nvPr/>
      </p:nvGrpSpPr>
      <p:grpSpPr>
        <a:xfrm>
          <a:off x="0" y="0"/>
          <a:ext cx="0" cy="0"/>
          <a:chOff x="0" y="0"/>
          <a:chExt cx="0" cy="0"/>
        </a:xfrm>
      </p:grpSpPr>
      <p:pic>
        <p:nvPicPr>
          <p:cNvPr id="279" name="Google Shape;279;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0" name="Google Shape;280;p23" descr="image.png"/>
          <p:cNvPicPr preferRelativeResize="0"/>
          <p:nvPr/>
        </p:nvPicPr>
        <p:blipFill rotWithShape="1">
          <a:blip r:embed="rId4">
            <a:alphaModFix/>
          </a:blip>
          <a:srcRect/>
          <a:stretch/>
        </p:blipFill>
        <p:spPr>
          <a:xfrm>
            <a:off x="666750" y="2565945"/>
            <a:ext cx="5286375" cy="2362200"/>
          </a:xfrm>
          <a:prstGeom prst="rect">
            <a:avLst/>
          </a:prstGeom>
          <a:noFill/>
          <a:ln>
            <a:noFill/>
          </a:ln>
        </p:spPr>
      </p:pic>
      <p:pic>
        <p:nvPicPr>
          <p:cNvPr id="281" name="Google Shape;281;p23" descr="image.png"/>
          <p:cNvPicPr preferRelativeResize="0"/>
          <p:nvPr/>
        </p:nvPicPr>
        <p:blipFill rotWithShape="1">
          <a:blip r:embed="rId5">
            <a:alphaModFix/>
          </a:blip>
          <a:srcRect/>
          <a:stretch/>
        </p:blipFill>
        <p:spPr>
          <a:xfrm>
            <a:off x="6238875" y="2565945"/>
            <a:ext cx="5286375" cy="2362200"/>
          </a:xfrm>
          <a:prstGeom prst="rect">
            <a:avLst/>
          </a:prstGeom>
          <a:noFill/>
          <a:ln>
            <a:noFill/>
          </a:ln>
        </p:spPr>
      </p:pic>
      <p:sp>
        <p:nvSpPr>
          <p:cNvPr id="282" name="Google Shape;282;p23"/>
          <p:cNvSpPr txBox="1"/>
          <p:nvPr/>
        </p:nvSpPr>
        <p:spPr>
          <a:xfrm>
            <a:off x="1057275" y="2861220"/>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59669"/>
                </a:solidFill>
                <a:latin typeface="Poppins"/>
                <a:ea typeface="Poppins"/>
                <a:cs typeface="Poppins"/>
                <a:sym typeface="Poppins"/>
              </a:rPr>
              <a:t>1. Autonomous Dispatcher</a:t>
            </a:r>
            <a:endParaRPr/>
          </a:p>
        </p:txBody>
      </p:sp>
      <p:sp>
        <p:nvSpPr>
          <p:cNvPr id="283" name="Google Shape;283;p23"/>
          <p:cNvSpPr txBox="1"/>
          <p:nvPr/>
        </p:nvSpPr>
        <p:spPr>
          <a:xfrm>
            <a:off x="1057275" y="3346995"/>
            <a:ext cx="4505325"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4A3F"/>
                </a:solidFill>
                <a:latin typeface="Lato"/>
                <a:ea typeface="Lato"/>
                <a:cs typeface="Lato"/>
                <a:sym typeface="Lato"/>
              </a:rPr>
              <a:t>The system implements a specialized </a:t>
            </a:r>
            <a:r>
              <a:rPr lang="en-US" sz="1200" b="1" i="0" u="none" strike="noStrike" cap="none">
                <a:solidFill>
                  <a:srgbClr val="2C4A3F"/>
                </a:solidFill>
                <a:latin typeface="Lato"/>
                <a:ea typeface="Lato"/>
                <a:cs typeface="Lato"/>
                <a:sym typeface="Lato"/>
              </a:rPr>
              <a:t>LLM-based Dispatcher Agent</a:t>
            </a:r>
            <a:r>
              <a:rPr lang="en-US" sz="1200" b="0" i="0" u="none" strike="noStrike" cap="none">
                <a:solidFill>
                  <a:srgbClr val="2C4A3F"/>
                </a:solidFill>
                <a:latin typeface="Lato"/>
                <a:ea typeface="Lato"/>
                <a:cs typeface="Lato"/>
                <a:sym typeface="Lato"/>
              </a:rPr>
              <a:t> designed to continuously track environmental telemetry logs. When parameters break safe bounds (e.g., temperatures exceeding 45°C or wind speeds surpassing 80 km/h), the Agent is activated to launch targeted disaster mitigation runs.</a:t>
            </a:r>
            <a:endParaRPr/>
          </a:p>
        </p:txBody>
      </p:sp>
      <p:sp>
        <p:nvSpPr>
          <p:cNvPr id="284" name="Google Shape;284;p23"/>
          <p:cNvSpPr txBox="1"/>
          <p:nvPr/>
        </p:nvSpPr>
        <p:spPr>
          <a:xfrm>
            <a:off x="6629400" y="2861220"/>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59669"/>
                </a:solidFill>
                <a:latin typeface="Poppins"/>
                <a:ea typeface="Poppins"/>
                <a:cs typeface="Poppins"/>
                <a:sym typeface="Poppins"/>
              </a:rPr>
              <a:t>2. Contextual Routing</a:t>
            </a:r>
            <a:endParaRPr/>
          </a:p>
        </p:txBody>
      </p:sp>
      <p:sp>
        <p:nvSpPr>
          <p:cNvPr id="285" name="Google Shape;285;p23"/>
          <p:cNvSpPr txBox="1"/>
          <p:nvPr/>
        </p:nvSpPr>
        <p:spPr>
          <a:xfrm>
            <a:off x="6629400" y="3346995"/>
            <a:ext cx="4505325"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4A3F"/>
                </a:solidFill>
                <a:latin typeface="Lato"/>
                <a:ea typeface="Lato"/>
                <a:cs typeface="Lato"/>
                <a:sym typeface="Lato"/>
              </a:rPr>
              <a:t>Rather than releasing generic alerts, the Agent evaluates demographic coordinates to route warnings to relevant templates. It adapts warnings depending on user classification—mapping water resources for farmers, and storm trajectories with tidal risks for fishermen.</a:t>
            </a:r>
            <a:endParaRPr/>
          </a:p>
        </p:txBody>
      </p:sp>
      <p:sp>
        <p:nvSpPr>
          <p:cNvPr id="286" name="Google Shape;286;p23"/>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Core AI Agent Logic</a:t>
            </a:r>
            <a:endParaRPr/>
          </a:p>
        </p:txBody>
      </p:sp>
      <p:sp>
        <p:nvSpPr>
          <p:cNvPr id="287" name="Google Shape;287;p23"/>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291"/>
        <p:cNvGrpSpPr/>
        <p:nvPr/>
      </p:nvGrpSpPr>
      <p:grpSpPr>
        <a:xfrm>
          <a:off x="0" y="0"/>
          <a:ext cx="0" cy="0"/>
          <a:chOff x="0" y="0"/>
          <a:chExt cx="0" cy="0"/>
        </a:xfrm>
      </p:grpSpPr>
      <p:pic>
        <p:nvPicPr>
          <p:cNvPr id="292" name="Google Shape;292;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3" name="Google Shape;293;p24"/>
          <p:cNvSpPr txBox="1"/>
          <p:nvPr/>
        </p:nvSpPr>
        <p:spPr>
          <a:xfrm>
            <a:off x="1333500" y="2696914"/>
            <a:ext cx="10001250" cy="52863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0E3A2F"/>
                </a:solidFill>
                <a:latin typeface="Lato"/>
                <a:ea typeface="Lato"/>
                <a:cs typeface="Lato"/>
                <a:sym typeface="Lato"/>
              </a:rPr>
              <a:t>System Role Definition:</a:t>
            </a:r>
            <a:r>
              <a:rPr lang="en-US" sz="1350" b="0" i="0" u="none" strike="noStrike" cap="none">
                <a:solidFill>
                  <a:srgbClr val="2C4A3F"/>
                </a:solidFill>
                <a:latin typeface="Lato"/>
                <a:ea typeface="Lato"/>
                <a:cs typeface="Lato"/>
                <a:sym typeface="Lato"/>
              </a:rPr>
              <a:t> "You are an expert climate resilience and disaster advisory assistant. Your goal is to translate complex technical hazard metrics into direct, localized, actionable safety protocols for rural Indian populations."</a:t>
            </a:r>
            <a:endParaRPr/>
          </a:p>
        </p:txBody>
      </p:sp>
      <p:sp>
        <p:nvSpPr>
          <p:cNvPr id="294" name="Google Shape;294;p24"/>
          <p:cNvSpPr txBox="1"/>
          <p:nvPr/>
        </p:nvSpPr>
        <p:spPr>
          <a:xfrm>
            <a:off x="1333500" y="3397001"/>
            <a:ext cx="10001250" cy="52863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0E3A2F"/>
                </a:solidFill>
                <a:latin typeface="Lato"/>
                <a:ea typeface="Lato"/>
                <a:cs typeface="Lato"/>
                <a:sym typeface="Lato"/>
              </a:rPr>
              <a:t>Execution Constraints:</a:t>
            </a:r>
            <a:r>
              <a:rPr lang="en-US" sz="1350" b="0" i="0" u="none" strike="noStrike" cap="none">
                <a:solidFill>
                  <a:srgbClr val="2C4A3F"/>
                </a:solidFill>
                <a:latin typeface="Lato"/>
                <a:ea typeface="Lato"/>
                <a:cs typeface="Lato"/>
                <a:sym typeface="Lato"/>
              </a:rPr>
              <a:t> 1. Detect user's region and auto-translate output into local regional language (e.g., Telugu, Tamil, Bengali). 2. Strictly suppress standard meteorological jargon (e.g., use 'stay indoors and hydrate' instead of 'atmospheric pressure drop').</a:t>
            </a:r>
            <a:endParaRPr/>
          </a:p>
        </p:txBody>
      </p:sp>
      <p:sp>
        <p:nvSpPr>
          <p:cNvPr id="295" name="Google Shape;295;p24"/>
          <p:cNvSpPr txBox="1"/>
          <p:nvPr/>
        </p:nvSpPr>
        <p:spPr>
          <a:xfrm>
            <a:off x="1333500" y="4097089"/>
            <a:ext cx="10001250" cy="52863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0E3A2F"/>
                </a:solidFill>
                <a:latin typeface="Lato"/>
                <a:ea typeface="Lato"/>
                <a:cs typeface="Lato"/>
                <a:sym typeface="Lato"/>
              </a:rPr>
              <a:t>Low-Bandwidth SMS Payload:</a:t>
            </a:r>
            <a:r>
              <a:rPr lang="en-US" sz="1350" b="0" i="0" u="none" strike="noStrike" cap="none">
                <a:solidFill>
                  <a:srgbClr val="2C4A3F"/>
                </a:solidFill>
                <a:latin typeface="Lato"/>
                <a:ea typeface="Lato"/>
                <a:cs typeface="Lato"/>
                <a:sym typeface="Lato"/>
              </a:rPr>
              <a:t> The final output must fit in under 160 characters to enable successful GSM text transmission to non-smart feature phones in rural areas with poor internet connectivity.</a:t>
            </a:r>
            <a:endParaRPr/>
          </a:p>
        </p:txBody>
      </p:sp>
      <p:pic>
        <p:nvPicPr>
          <p:cNvPr id="296" name="Google Shape;296;p24" descr="image.png"/>
          <p:cNvPicPr preferRelativeResize="0"/>
          <p:nvPr/>
        </p:nvPicPr>
        <p:blipFill rotWithShape="1">
          <a:blip r:embed="rId4">
            <a:alphaModFix/>
          </a:blip>
          <a:srcRect/>
          <a:stretch/>
        </p:blipFill>
        <p:spPr>
          <a:xfrm>
            <a:off x="904875" y="2711201"/>
            <a:ext cx="266700" cy="219075"/>
          </a:xfrm>
          <a:prstGeom prst="rect">
            <a:avLst/>
          </a:prstGeom>
          <a:noFill/>
          <a:ln>
            <a:noFill/>
          </a:ln>
        </p:spPr>
      </p:pic>
      <p:pic>
        <p:nvPicPr>
          <p:cNvPr id="297" name="Google Shape;297;p24" descr="image.png"/>
          <p:cNvPicPr preferRelativeResize="0"/>
          <p:nvPr/>
        </p:nvPicPr>
        <p:blipFill rotWithShape="1">
          <a:blip r:embed="rId5">
            <a:alphaModFix/>
          </a:blip>
          <a:srcRect/>
          <a:stretch/>
        </p:blipFill>
        <p:spPr>
          <a:xfrm>
            <a:off x="904875" y="3411289"/>
            <a:ext cx="180975" cy="219075"/>
          </a:xfrm>
          <a:prstGeom prst="rect">
            <a:avLst/>
          </a:prstGeom>
          <a:noFill/>
          <a:ln>
            <a:noFill/>
          </a:ln>
        </p:spPr>
      </p:pic>
      <p:pic>
        <p:nvPicPr>
          <p:cNvPr id="298" name="Google Shape;298;p24" descr="image.png"/>
          <p:cNvPicPr preferRelativeResize="0"/>
          <p:nvPr/>
        </p:nvPicPr>
        <p:blipFill rotWithShape="1">
          <a:blip r:embed="rId6">
            <a:alphaModFix/>
          </a:blip>
          <a:srcRect/>
          <a:stretch/>
        </p:blipFill>
        <p:spPr>
          <a:xfrm>
            <a:off x="904875" y="4111376"/>
            <a:ext cx="209550" cy="219075"/>
          </a:xfrm>
          <a:prstGeom prst="rect">
            <a:avLst/>
          </a:prstGeom>
          <a:noFill/>
          <a:ln>
            <a:noFill/>
          </a:ln>
        </p:spPr>
      </p:pic>
      <p:sp>
        <p:nvSpPr>
          <p:cNvPr id="299" name="Google Shape;299;p24"/>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System Prompt Workflow</a:t>
            </a:r>
            <a:endParaRPr/>
          </a:p>
        </p:txBody>
      </p:sp>
      <p:sp>
        <p:nvSpPr>
          <p:cNvPr id="300" name="Google Shape;300;p24"/>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304"/>
        <p:cNvGrpSpPr/>
        <p:nvPr/>
      </p:nvGrpSpPr>
      <p:grpSpPr>
        <a:xfrm>
          <a:off x="0" y="0"/>
          <a:ext cx="0" cy="0"/>
          <a:chOff x="0" y="0"/>
          <a:chExt cx="0" cy="0"/>
        </a:xfrm>
      </p:grpSpPr>
      <p:pic>
        <p:nvPicPr>
          <p:cNvPr id="305" name="Google Shape;305;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6" name="Google Shape;306;p25" descr="image.png"/>
          <p:cNvPicPr preferRelativeResize="0"/>
          <p:nvPr/>
        </p:nvPicPr>
        <p:blipFill rotWithShape="1">
          <a:blip r:embed="rId4">
            <a:alphaModFix/>
          </a:blip>
          <a:srcRect/>
          <a:stretch/>
        </p:blipFill>
        <p:spPr>
          <a:xfrm>
            <a:off x="666750" y="3456533"/>
            <a:ext cx="5238750" cy="942975"/>
          </a:xfrm>
          <a:prstGeom prst="rect">
            <a:avLst/>
          </a:prstGeom>
          <a:noFill/>
          <a:ln>
            <a:noFill/>
          </a:ln>
        </p:spPr>
      </p:pic>
      <p:pic>
        <p:nvPicPr>
          <p:cNvPr id="307" name="Google Shape;307;p25" descr="image.png"/>
          <p:cNvPicPr preferRelativeResize="0"/>
          <p:nvPr/>
        </p:nvPicPr>
        <p:blipFill rotWithShape="1">
          <a:blip r:embed="rId5">
            <a:alphaModFix/>
          </a:blip>
          <a:srcRect/>
          <a:stretch/>
        </p:blipFill>
        <p:spPr>
          <a:xfrm>
            <a:off x="6286500" y="2080170"/>
            <a:ext cx="5238750" cy="3333750"/>
          </a:xfrm>
          <a:prstGeom prst="rect">
            <a:avLst/>
          </a:prstGeom>
          <a:noFill/>
          <a:ln>
            <a:noFill/>
          </a:ln>
        </p:spPr>
      </p:pic>
      <p:sp>
        <p:nvSpPr>
          <p:cNvPr id="308" name="Google Shape;308;p25"/>
          <p:cNvSpPr txBox="1"/>
          <p:nvPr/>
        </p:nvSpPr>
        <p:spPr>
          <a:xfrm>
            <a:off x="723900" y="2445841"/>
            <a:ext cx="5610225" cy="276225"/>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1800" b="1" i="0" u="none" strike="noStrike" cap="none" dirty="0">
                <a:solidFill>
                  <a:srgbClr val="0E3A2F"/>
                </a:solidFill>
                <a:latin typeface="Poppins"/>
                <a:ea typeface="Poppins"/>
                <a:cs typeface="Poppins"/>
                <a:sym typeface="Poppins"/>
              </a:rPr>
              <a:t>Active Alert Payload Output</a:t>
            </a:r>
            <a:endParaRPr dirty="0"/>
          </a:p>
        </p:txBody>
      </p:sp>
      <p:sp>
        <p:nvSpPr>
          <p:cNvPr id="309" name="Google Shape;309;p25"/>
          <p:cNvSpPr txBox="1"/>
          <p:nvPr/>
        </p:nvSpPr>
        <p:spPr>
          <a:xfrm>
            <a:off x="666750" y="2885033"/>
            <a:ext cx="52387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2C4A3F"/>
                </a:solidFill>
                <a:latin typeface="Lato"/>
                <a:ea typeface="Lato"/>
                <a:cs typeface="Lato"/>
                <a:sym typeface="Lato"/>
              </a:rPr>
              <a:t>Input Context:</a:t>
            </a:r>
            <a:r>
              <a:rPr lang="en-US" sz="1200" b="0" i="0" u="none" strike="noStrike" cap="none">
                <a:solidFill>
                  <a:srgbClr val="2C4A3F"/>
                </a:solidFill>
                <a:latin typeface="Lato"/>
                <a:ea typeface="Lato"/>
                <a:cs typeface="Lato"/>
                <a:sym typeface="Lato"/>
              </a:rPr>
              <a:t> Prakasam District, Andhra Pradesh. Projected heatwave: 46°C over 48 hours.</a:t>
            </a:r>
            <a:endParaRPr/>
          </a:p>
        </p:txBody>
      </p:sp>
      <p:sp>
        <p:nvSpPr>
          <p:cNvPr id="310" name="Google Shape;310;p25"/>
          <p:cNvSpPr txBox="1"/>
          <p:nvPr/>
        </p:nvSpPr>
        <p:spPr>
          <a:xfrm>
            <a:off x="666750" y="4542383"/>
            <a:ext cx="523875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1" u="none" strike="noStrike" cap="none">
                <a:solidFill>
                  <a:srgbClr val="4B6B5F"/>
                </a:solidFill>
                <a:latin typeface="Lato"/>
                <a:ea typeface="Lato"/>
                <a:cs typeface="Lato"/>
                <a:sym typeface="Lato"/>
              </a:rPr>
              <a:t>English Reference: "Extreme Heatwave Alert! Temperatures may cross 46°C in the next 48 hours. Avoid field work from 12 PM to 4 PM. Stay hydrated."</a:t>
            </a:r>
            <a:endParaRPr/>
          </a:p>
        </p:txBody>
      </p:sp>
      <p:pic>
        <p:nvPicPr>
          <p:cNvPr id="311" name="Google Shape;311;p25" descr="image.png"/>
          <p:cNvPicPr preferRelativeResize="0"/>
          <p:nvPr/>
        </p:nvPicPr>
        <p:blipFill rotWithShape="1">
          <a:blip r:embed="rId6">
            <a:alphaModFix/>
          </a:blip>
          <a:srcRect/>
          <a:stretch/>
        </p:blipFill>
        <p:spPr>
          <a:xfrm>
            <a:off x="666750" y="2456408"/>
            <a:ext cx="171450" cy="228600"/>
          </a:xfrm>
          <a:prstGeom prst="rect">
            <a:avLst/>
          </a:prstGeom>
          <a:noFill/>
          <a:ln>
            <a:noFill/>
          </a:ln>
        </p:spPr>
      </p:pic>
      <p:sp>
        <p:nvSpPr>
          <p:cNvPr id="312" name="Google Shape;312;p25"/>
          <p:cNvSpPr txBox="1"/>
          <p:nvPr/>
        </p:nvSpPr>
        <p:spPr>
          <a:xfrm>
            <a:off x="866775" y="3656558"/>
            <a:ext cx="928687"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14532D"/>
                </a:solidFill>
                <a:latin typeface="Arial"/>
                <a:ea typeface="Arial"/>
                <a:cs typeface="Arial"/>
                <a:sym typeface="Arial"/>
              </a:rPr>
              <a:t>Telugu Alert:</a:t>
            </a:r>
            <a:endParaRPr/>
          </a:p>
        </p:txBody>
      </p:sp>
      <p:pic>
        <p:nvPicPr>
          <p:cNvPr id="313" name="Google Shape;313;p25" descr="image.png"/>
          <p:cNvPicPr preferRelativeResize="0"/>
          <p:nvPr/>
        </p:nvPicPr>
        <p:blipFill rotWithShape="1">
          <a:blip r:embed="rId7">
            <a:alphaModFix/>
          </a:blip>
          <a:srcRect/>
          <a:stretch/>
        </p:blipFill>
        <p:spPr>
          <a:xfrm>
            <a:off x="6296025" y="2146845"/>
            <a:ext cx="5219700" cy="3314700"/>
          </a:xfrm>
          <a:prstGeom prst="rect">
            <a:avLst/>
          </a:prstGeom>
          <a:noFill/>
          <a:ln>
            <a:noFill/>
          </a:ln>
        </p:spPr>
      </p:pic>
      <p:sp>
        <p:nvSpPr>
          <p:cNvPr id="314" name="Google Shape;314;p25"/>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Prototype UI &amp; Output Logs</a:t>
            </a:r>
            <a:endParaRPr/>
          </a:p>
        </p:txBody>
      </p:sp>
      <p:sp>
        <p:nvSpPr>
          <p:cNvPr id="315" name="Google Shape;315;p25"/>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319"/>
        <p:cNvGrpSpPr/>
        <p:nvPr/>
      </p:nvGrpSpPr>
      <p:grpSpPr>
        <a:xfrm>
          <a:off x="0" y="0"/>
          <a:ext cx="0" cy="0"/>
          <a:chOff x="0" y="0"/>
          <a:chExt cx="0" cy="0"/>
        </a:xfrm>
      </p:grpSpPr>
      <p:pic>
        <p:nvPicPr>
          <p:cNvPr id="320" name="Google Shape;320;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1" name="Google Shape;321;p26" descr="image.png"/>
          <p:cNvPicPr preferRelativeResize="0"/>
          <p:nvPr/>
        </p:nvPicPr>
        <p:blipFill rotWithShape="1">
          <a:blip r:embed="rId4">
            <a:alphaModFix/>
          </a:blip>
          <a:srcRect/>
          <a:stretch/>
        </p:blipFill>
        <p:spPr>
          <a:xfrm>
            <a:off x="666750" y="2592139"/>
            <a:ext cx="5286375" cy="2309812"/>
          </a:xfrm>
          <a:prstGeom prst="rect">
            <a:avLst/>
          </a:prstGeom>
          <a:noFill/>
          <a:ln>
            <a:noFill/>
          </a:ln>
        </p:spPr>
      </p:pic>
      <p:pic>
        <p:nvPicPr>
          <p:cNvPr id="322" name="Google Shape;322;p26" descr="image.png"/>
          <p:cNvPicPr preferRelativeResize="0"/>
          <p:nvPr/>
        </p:nvPicPr>
        <p:blipFill rotWithShape="1">
          <a:blip r:embed="rId5">
            <a:alphaModFix/>
          </a:blip>
          <a:srcRect/>
          <a:stretch/>
        </p:blipFill>
        <p:spPr>
          <a:xfrm>
            <a:off x="6238875" y="2592139"/>
            <a:ext cx="5286375" cy="2309812"/>
          </a:xfrm>
          <a:prstGeom prst="rect">
            <a:avLst/>
          </a:prstGeom>
          <a:noFill/>
          <a:ln>
            <a:noFill/>
          </a:ln>
        </p:spPr>
      </p:pic>
      <p:sp>
        <p:nvSpPr>
          <p:cNvPr id="323" name="Google Shape;323;p26"/>
          <p:cNvSpPr txBox="1"/>
          <p:nvPr/>
        </p:nvSpPr>
        <p:spPr>
          <a:xfrm>
            <a:off x="1057275" y="2887414"/>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59669"/>
                </a:solidFill>
                <a:latin typeface="Poppins"/>
                <a:ea typeface="Poppins"/>
                <a:cs typeface="Poppins"/>
                <a:sym typeface="Poppins"/>
              </a:rPr>
              <a:t>Knowledge Ingestion</a:t>
            </a:r>
            <a:endParaRPr/>
          </a:p>
        </p:txBody>
      </p:sp>
      <p:sp>
        <p:nvSpPr>
          <p:cNvPr id="324" name="Google Shape;324;p26"/>
          <p:cNvSpPr txBox="1"/>
          <p:nvPr/>
        </p:nvSpPr>
        <p:spPr>
          <a:xfrm>
            <a:off x="1057275" y="3373189"/>
            <a:ext cx="4505325" cy="642937"/>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2C4A3F"/>
                </a:solidFill>
                <a:latin typeface="Lato"/>
                <a:ea typeface="Lato"/>
                <a:cs typeface="Lato"/>
                <a:sym typeface="Lato"/>
              </a:rPr>
              <a:t>To guarantee expert, vetted safety advice, the system runs a </a:t>
            </a:r>
            <a:r>
              <a:rPr lang="en-US" sz="1125" b="1" i="0" u="none" strike="noStrike" cap="none">
                <a:solidFill>
                  <a:srgbClr val="2C4A3F"/>
                </a:solidFill>
                <a:latin typeface="Lato"/>
                <a:ea typeface="Lato"/>
                <a:cs typeface="Lato"/>
                <a:sym typeface="Lato"/>
              </a:rPr>
              <a:t>Retrieval-Augmented Generation (RAG)</a:t>
            </a:r>
            <a:r>
              <a:rPr lang="en-US" sz="1125" b="0" i="0" u="none" strike="noStrike" cap="none">
                <a:solidFill>
                  <a:srgbClr val="2C4A3F"/>
                </a:solidFill>
                <a:latin typeface="Lato"/>
                <a:ea typeface="Lato"/>
                <a:cs typeface="Lato"/>
                <a:sym typeface="Lato"/>
              </a:rPr>
              <a:t> architecture. It indexes official national hazard manuals, including:</a:t>
            </a:r>
            <a:endParaRPr/>
          </a:p>
        </p:txBody>
      </p:sp>
      <p:sp>
        <p:nvSpPr>
          <p:cNvPr id="325" name="Google Shape;325;p26"/>
          <p:cNvSpPr txBox="1"/>
          <p:nvPr/>
        </p:nvSpPr>
        <p:spPr>
          <a:xfrm>
            <a:off x="6629400" y="3004095"/>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59669"/>
                </a:solidFill>
                <a:latin typeface="Poppins"/>
                <a:ea typeface="Poppins"/>
                <a:cs typeface="Poppins"/>
                <a:sym typeface="Poppins"/>
              </a:rPr>
              <a:t>Vector Search Matching</a:t>
            </a:r>
            <a:endParaRPr/>
          </a:p>
        </p:txBody>
      </p:sp>
      <p:sp>
        <p:nvSpPr>
          <p:cNvPr id="326" name="Google Shape;326;p26"/>
          <p:cNvSpPr txBox="1"/>
          <p:nvPr/>
        </p:nvSpPr>
        <p:spPr>
          <a:xfrm>
            <a:off x="6629400" y="3489870"/>
            <a:ext cx="4505325" cy="85725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2C4A3F"/>
                </a:solidFill>
                <a:latin typeface="Lato"/>
                <a:ea typeface="Lato"/>
                <a:cs typeface="Lato"/>
                <a:sym typeface="Lato"/>
              </a:rPr>
              <a:t>When the AI detects an impending alert, it converts the threat into a semantic query. It runs a vector similarity search across indexed documents in </a:t>
            </a:r>
            <a:r>
              <a:rPr lang="en-US" sz="1125" b="1" i="0" u="none" strike="noStrike" cap="none">
                <a:solidFill>
                  <a:srgbClr val="2C4A3F"/>
                </a:solidFill>
                <a:latin typeface="Lato"/>
                <a:ea typeface="Lato"/>
                <a:cs typeface="Lato"/>
                <a:sym typeface="Lato"/>
              </a:rPr>
              <a:t>Pinecone / ChromaDB</a:t>
            </a:r>
            <a:r>
              <a:rPr lang="en-US" sz="1125" b="0" i="0" u="none" strike="noStrike" cap="none">
                <a:solidFill>
                  <a:srgbClr val="2C4A3F"/>
                </a:solidFill>
                <a:latin typeface="Lato"/>
                <a:ea typeface="Lato"/>
                <a:cs typeface="Lato"/>
                <a:sym typeface="Lato"/>
              </a:rPr>
              <a:t>, pulls the exact mitigation text, and injects it directly into the LLM system prompt context.</a:t>
            </a:r>
            <a:endParaRPr/>
          </a:p>
        </p:txBody>
      </p:sp>
      <p:sp>
        <p:nvSpPr>
          <p:cNvPr id="327" name="Google Shape;327;p26"/>
          <p:cNvSpPr txBox="1"/>
          <p:nvPr/>
        </p:nvSpPr>
        <p:spPr>
          <a:xfrm>
            <a:off x="1295400" y="4111376"/>
            <a:ext cx="4267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2C4A3F"/>
                </a:solidFill>
                <a:latin typeface="Lato"/>
                <a:ea typeface="Lato"/>
                <a:cs typeface="Lato"/>
                <a:sym typeface="Lato"/>
              </a:rPr>
              <a:t>NDMA National Cyclone Guidelines</a:t>
            </a:r>
            <a:endParaRPr/>
          </a:p>
        </p:txBody>
      </p:sp>
      <p:sp>
        <p:nvSpPr>
          <p:cNvPr id="328" name="Google Shape;328;p26"/>
          <p:cNvSpPr txBox="1"/>
          <p:nvPr/>
        </p:nvSpPr>
        <p:spPr>
          <a:xfrm>
            <a:off x="1295400" y="4359026"/>
            <a:ext cx="4267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2C4A3F"/>
                </a:solidFill>
                <a:latin typeface="Lato"/>
                <a:ea typeface="Lato"/>
                <a:cs typeface="Lato"/>
                <a:sym typeface="Lato"/>
              </a:rPr>
              <a:t>ICAR Dryland Crop Protection Manuals</a:t>
            </a:r>
            <a:endParaRPr/>
          </a:p>
        </p:txBody>
      </p:sp>
      <p:pic>
        <p:nvPicPr>
          <p:cNvPr id="329" name="Google Shape;329;p26" descr="image.png"/>
          <p:cNvPicPr preferRelativeResize="0"/>
          <p:nvPr/>
        </p:nvPicPr>
        <p:blipFill rotWithShape="1">
          <a:blip r:embed="rId6">
            <a:alphaModFix/>
          </a:blip>
          <a:srcRect/>
          <a:stretch/>
        </p:blipFill>
        <p:spPr>
          <a:xfrm>
            <a:off x="1104900" y="4130426"/>
            <a:ext cx="152400" cy="152400"/>
          </a:xfrm>
          <a:prstGeom prst="rect">
            <a:avLst/>
          </a:prstGeom>
          <a:noFill/>
          <a:ln>
            <a:noFill/>
          </a:ln>
        </p:spPr>
      </p:pic>
      <p:pic>
        <p:nvPicPr>
          <p:cNvPr id="330" name="Google Shape;330;p26" descr="image.png"/>
          <p:cNvPicPr preferRelativeResize="0"/>
          <p:nvPr/>
        </p:nvPicPr>
        <p:blipFill rotWithShape="1">
          <a:blip r:embed="rId6">
            <a:alphaModFix/>
          </a:blip>
          <a:srcRect/>
          <a:stretch/>
        </p:blipFill>
        <p:spPr>
          <a:xfrm>
            <a:off x="1104900" y="4378076"/>
            <a:ext cx="152400" cy="152400"/>
          </a:xfrm>
          <a:prstGeom prst="rect">
            <a:avLst/>
          </a:prstGeom>
          <a:noFill/>
          <a:ln>
            <a:noFill/>
          </a:ln>
        </p:spPr>
      </p:pic>
      <p:sp>
        <p:nvSpPr>
          <p:cNvPr id="331" name="Google Shape;331;p26"/>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RAG Knowledge Architecture</a:t>
            </a:r>
            <a:endParaRPr/>
          </a:p>
        </p:txBody>
      </p:sp>
      <p:sp>
        <p:nvSpPr>
          <p:cNvPr id="332" name="Google Shape;332;p26"/>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336"/>
        <p:cNvGrpSpPr/>
        <p:nvPr/>
      </p:nvGrpSpPr>
      <p:grpSpPr>
        <a:xfrm>
          <a:off x="0" y="0"/>
          <a:ext cx="0" cy="0"/>
          <a:chOff x="0" y="0"/>
          <a:chExt cx="0" cy="0"/>
        </a:xfrm>
      </p:grpSpPr>
      <p:pic>
        <p:nvPicPr>
          <p:cNvPr id="337" name="Google Shape;337;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8" name="Google Shape;338;p27" descr="image.png"/>
          <p:cNvPicPr preferRelativeResize="0"/>
          <p:nvPr/>
        </p:nvPicPr>
        <p:blipFill rotWithShape="1">
          <a:blip r:embed="rId4">
            <a:alphaModFix/>
          </a:blip>
          <a:srcRect/>
          <a:stretch/>
        </p:blipFill>
        <p:spPr>
          <a:xfrm>
            <a:off x="666750" y="2389733"/>
            <a:ext cx="10858500" cy="2714625"/>
          </a:xfrm>
          <a:prstGeom prst="rect">
            <a:avLst/>
          </a:prstGeom>
          <a:noFill/>
          <a:ln>
            <a:noFill/>
          </a:ln>
        </p:spPr>
      </p:pic>
      <p:graphicFrame>
        <p:nvGraphicFramePr>
          <p:cNvPr id="339" name="Google Shape;339;p27"/>
          <p:cNvGraphicFramePr/>
          <p:nvPr/>
        </p:nvGraphicFramePr>
        <p:xfrm>
          <a:off x="676275" y="2399258"/>
          <a:ext cx="10839425" cy="2695600"/>
        </p:xfrm>
        <a:graphic>
          <a:graphicData uri="http://schemas.openxmlformats.org/drawingml/2006/table">
            <a:tbl>
              <a:tblPr firstRow="1" bandRow="1">
                <a:noFill/>
                <a:tableStyleId>{67ECF497-6C0B-41B7-8775-31B366413254}</a:tableStyleId>
              </a:tblPr>
              <a:tblGrid>
                <a:gridCol w="2709850">
                  <a:extLst>
                    <a:ext uri="{9D8B030D-6E8A-4147-A177-3AD203B41FA5}">
                      <a16:colId xmlns:a16="http://schemas.microsoft.com/office/drawing/2014/main" val="20000"/>
                    </a:ext>
                  </a:extLst>
                </a:gridCol>
                <a:gridCol w="3793775">
                  <a:extLst>
                    <a:ext uri="{9D8B030D-6E8A-4147-A177-3AD203B41FA5}">
                      <a16:colId xmlns:a16="http://schemas.microsoft.com/office/drawing/2014/main" val="20001"/>
                    </a:ext>
                  </a:extLst>
                </a:gridCol>
                <a:gridCol w="4335800">
                  <a:extLst>
                    <a:ext uri="{9D8B030D-6E8A-4147-A177-3AD203B41FA5}">
                      <a16:colId xmlns:a16="http://schemas.microsoft.com/office/drawing/2014/main" val="20002"/>
                    </a:ext>
                  </a:extLst>
                </a:gridCol>
              </a:tblGrid>
              <a:tr h="673900">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System Alert Event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Retrieved Resource Document Context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RAG Context-Enriched Response Delivered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extLst>
                  <a:ext uri="{0D108BD9-81ED-4DB2-BD59-A6C34878D82A}">
                    <a16:rowId xmlns:a16="http://schemas.microsoft.com/office/drawing/2014/main" val="10000"/>
                  </a:ext>
                </a:extLst>
              </a:tr>
              <a:tr h="67390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Drought Severity Alert:</a:t>
                      </a:r>
                      <a:r>
                        <a:rPr lang="en-US" sz="1200" b="0" i="0" u="none" strike="noStrike" cap="none">
                          <a:solidFill>
                            <a:srgbClr val="2C4A3F"/>
                          </a:solidFill>
                          <a:latin typeface="Lato"/>
                          <a:ea typeface="Lato"/>
                          <a:cs typeface="Lato"/>
                          <a:sym typeface="Lato"/>
                        </a:rPr>
                        <a:t> </a:t>
                      </a:r>
                      <a:r>
                        <a:rPr lang="en-US" sz="1200" b="0" i="0" u="none" strike="noStrike" cap="none">
                          <a:solidFill>
                            <a:srgbClr val="B91C1C"/>
                          </a:solidFill>
                          <a:latin typeface="Lato"/>
                          <a:ea typeface="Lato"/>
                          <a:cs typeface="Lato"/>
                          <a:sym typeface="Lato"/>
                        </a:rPr>
                        <a:t>Rain deficit &gt;60%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1" u="none" strike="noStrike" cap="none">
                          <a:solidFill>
                            <a:srgbClr val="2C4A3F"/>
                          </a:solidFill>
                          <a:latin typeface="Lato"/>
                          <a:ea typeface="Lato"/>
                          <a:cs typeface="Lato"/>
                          <a:sym typeface="Lato"/>
                        </a:rPr>
                        <a:t>ICAR Section 4.2 Drought Crop Planning Guide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"Deploy micro-drip irrigation instantly. Transition to low-water millets and drought-hardy pulses."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7390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Cyclone Hazard Level:</a:t>
                      </a:r>
                      <a:r>
                        <a:rPr lang="en-US" sz="1200" b="0" i="0" u="none" strike="noStrike" cap="none">
                          <a:solidFill>
                            <a:srgbClr val="2C4A3F"/>
                          </a:solidFill>
                          <a:latin typeface="Lato"/>
                          <a:ea typeface="Lato"/>
                          <a:cs typeface="Lato"/>
                          <a:sym typeface="Lato"/>
                        </a:rPr>
                        <a:t> </a:t>
                      </a:r>
                      <a:r>
                        <a:rPr lang="en-US" sz="1200" b="0" i="0" u="none" strike="noStrike" cap="none">
                          <a:solidFill>
                            <a:srgbClr val="B91C1C"/>
                          </a:solidFill>
                          <a:latin typeface="Lato"/>
                          <a:ea typeface="Lato"/>
                          <a:cs typeface="Lato"/>
                          <a:sym typeface="Lato"/>
                        </a:rPr>
                        <a:t>Winds at 95 km/h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1" u="none" strike="noStrike" cap="none">
                          <a:solidFill>
                            <a:srgbClr val="2C4A3F"/>
                          </a:solidFill>
                          <a:latin typeface="Lato"/>
                          <a:ea typeface="Lato"/>
                          <a:cs typeface="Lato"/>
                          <a:sym typeface="Lato"/>
                        </a:rPr>
                        <a:t>NDMA Section 2.1 Coastal Safety Protocol Document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"Relocate marine vessel assets inland immediately. Evacuate low-lying coastal shelters within 12 hours."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extLst>
                  <a:ext uri="{0D108BD9-81ED-4DB2-BD59-A6C34878D82A}">
                    <a16:rowId xmlns:a16="http://schemas.microsoft.com/office/drawing/2014/main" val="10002"/>
                  </a:ext>
                </a:extLst>
              </a:tr>
              <a:tr h="67390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Heatwave Red Alert:</a:t>
                      </a:r>
                      <a:r>
                        <a:rPr lang="en-US" sz="1200" b="0" i="0" u="none" strike="noStrike" cap="none">
                          <a:solidFill>
                            <a:srgbClr val="2C4A3F"/>
                          </a:solidFill>
                          <a:latin typeface="Lato"/>
                          <a:ea typeface="Lato"/>
                          <a:cs typeface="Lato"/>
                          <a:sym typeface="Lato"/>
                        </a:rPr>
                        <a:t> </a:t>
                      </a:r>
                      <a:r>
                        <a:rPr lang="en-US" sz="1200" b="0" i="0" u="none" strike="noStrike" cap="none">
                          <a:solidFill>
                            <a:srgbClr val="B91C1C"/>
                          </a:solidFill>
                          <a:latin typeface="Lato"/>
                          <a:ea typeface="Lato"/>
                          <a:cs typeface="Lato"/>
                          <a:sym typeface="Lato"/>
                        </a:rPr>
                        <a:t>Temperature &gt;45°C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1" u="none" strike="noStrike" cap="none">
                          <a:solidFill>
                            <a:srgbClr val="2C4A3F"/>
                          </a:solidFill>
                          <a:latin typeface="Lato"/>
                          <a:ea typeface="Lato"/>
                          <a:cs typeface="Lato"/>
                          <a:sym typeface="Lato"/>
                        </a:rPr>
                        <a:t>National Health Emergency Heat Prevention Manual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"Halt labor work during peak solar cycle (12-4 PM). Disseminate rehydration packs at central shelters."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340" name="Google Shape;340;p27"/>
          <p:cNvSpPr/>
          <p:nvPr/>
        </p:nvSpPr>
        <p:spPr>
          <a:xfrm>
            <a:off x="676275" y="3613695"/>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27"/>
          <p:cNvSpPr/>
          <p:nvPr/>
        </p:nvSpPr>
        <p:spPr>
          <a:xfrm>
            <a:off x="3386137" y="3613695"/>
            <a:ext cx="3793777"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27"/>
          <p:cNvSpPr/>
          <p:nvPr/>
        </p:nvSpPr>
        <p:spPr>
          <a:xfrm>
            <a:off x="7179915" y="3613695"/>
            <a:ext cx="4335809"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27"/>
          <p:cNvSpPr/>
          <p:nvPr/>
        </p:nvSpPr>
        <p:spPr>
          <a:xfrm>
            <a:off x="676275" y="4347120"/>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27"/>
          <p:cNvSpPr/>
          <p:nvPr/>
        </p:nvSpPr>
        <p:spPr>
          <a:xfrm>
            <a:off x="3386137" y="4347120"/>
            <a:ext cx="3793777"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27"/>
          <p:cNvSpPr/>
          <p:nvPr/>
        </p:nvSpPr>
        <p:spPr>
          <a:xfrm>
            <a:off x="7179915" y="4347120"/>
            <a:ext cx="4335809"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27"/>
          <p:cNvSpPr/>
          <p:nvPr/>
        </p:nvSpPr>
        <p:spPr>
          <a:xfrm>
            <a:off x="676275" y="5080545"/>
            <a:ext cx="2709862"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27"/>
          <p:cNvSpPr/>
          <p:nvPr/>
        </p:nvSpPr>
        <p:spPr>
          <a:xfrm>
            <a:off x="3386137" y="5080545"/>
            <a:ext cx="3793777"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7"/>
          <p:cNvSpPr/>
          <p:nvPr/>
        </p:nvSpPr>
        <p:spPr>
          <a:xfrm>
            <a:off x="7179915" y="5080545"/>
            <a:ext cx="4335809"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9" name="Google Shape;349;p27"/>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RAG Vector Search &amp; Outputs</a:t>
            </a:r>
            <a:endParaRPr/>
          </a:p>
        </p:txBody>
      </p:sp>
      <p:sp>
        <p:nvSpPr>
          <p:cNvPr id="350" name="Google Shape;350;p27"/>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354"/>
        <p:cNvGrpSpPr/>
        <p:nvPr/>
      </p:nvGrpSpPr>
      <p:grpSpPr>
        <a:xfrm>
          <a:off x="0" y="0"/>
          <a:ext cx="0" cy="0"/>
          <a:chOff x="0" y="0"/>
          <a:chExt cx="0" cy="0"/>
        </a:xfrm>
      </p:grpSpPr>
      <p:pic>
        <p:nvPicPr>
          <p:cNvPr id="355" name="Google Shape;355;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6" name="Google Shape;356;p28"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357" name="Google Shape;357;p28"/>
          <p:cNvSpPr/>
          <p:nvPr/>
        </p:nvSpPr>
        <p:spPr>
          <a:xfrm>
            <a:off x="5524500" y="2214562"/>
            <a:ext cx="1143000" cy="381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8" name="Google Shape;358;p28"/>
          <p:cNvSpPr txBox="1"/>
          <p:nvPr/>
        </p:nvSpPr>
        <p:spPr>
          <a:xfrm>
            <a:off x="495300" y="2490787"/>
            <a:ext cx="11201400" cy="16192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AFDFB"/>
                </a:solidFill>
                <a:latin typeface="Poppins"/>
                <a:ea typeface="Poppins"/>
                <a:cs typeface="Poppins"/>
                <a:sym typeface="Poppins"/>
              </a:rPr>
              <a:t>Part IV: Ethics, Governance &amp; Field Impact</a:t>
            </a:r>
            <a:endParaRPr/>
          </a:p>
        </p:txBody>
      </p:sp>
      <p:sp>
        <p:nvSpPr>
          <p:cNvPr id="359" name="Google Shape;359;p28"/>
          <p:cNvSpPr txBox="1"/>
          <p:nvPr/>
        </p:nvSpPr>
        <p:spPr>
          <a:xfrm>
            <a:off x="2286000" y="4252912"/>
            <a:ext cx="7620000" cy="6286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A7F3D0"/>
                </a:solidFill>
                <a:latin typeface="Lato"/>
                <a:ea typeface="Lato"/>
                <a:cs typeface="Lato"/>
                <a:sym typeface="Lato"/>
              </a:rPr>
              <a:t>Ensuring transparent, unbiased AI pipelines, mapping critical UN SDG goals, and outlining our road ahead.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363"/>
        <p:cNvGrpSpPr/>
        <p:nvPr/>
      </p:nvGrpSpPr>
      <p:grpSpPr>
        <a:xfrm>
          <a:off x="0" y="0"/>
          <a:ext cx="0" cy="0"/>
          <a:chOff x="0" y="0"/>
          <a:chExt cx="0" cy="0"/>
        </a:xfrm>
      </p:grpSpPr>
      <p:pic>
        <p:nvPicPr>
          <p:cNvPr id="364" name="Google Shape;364;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65" name="Google Shape;365;p29"/>
          <p:cNvSpPr txBox="1"/>
          <p:nvPr/>
        </p:nvSpPr>
        <p:spPr>
          <a:xfrm>
            <a:off x="1333500" y="2346870"/>
            <a:ext cx="10001250" cy="52863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0E3A2F"/>
                </a:solidFill>
                <a:latin typeface="Lato"/>
                <a:ea typeface="Lato"/>
                <a:cs typeface="Lato"/>
                <a:sym typeface="Lato"/>
              </a:rPr>
              <a:t>Bias Prevention &amp; Fairness:</a:t>
            </a:r>
            <a:r>
              <a:rPr lang="en-US" sz="1350" b="0" i="0" u="none" strike="noStrike" cap="none">
                <a:solidFill>
                  <a:srgbClr val="2C4A3F"/>
                </a:solidFill>
                <a:latin typeface="Lato"/>
                <a:ea typeface="Lato"/>
                <a:cs typeface="Lato"/>
                <a:sym typeface="Lato"/>
              </a:rPr>
              <a:t> Model training sets are carefully gathered and balanced across both rural farming grids and metropolitan areas, preventing predictive bias that could favor urban zones.</a:t>
            </a:r>
            <a:endParaRPr/>
          </a:p>
        </p:txBody>
      </p:sp>
      <p:sp>
        <p:nvSpPr>
          <p:cNvPr id="366" name="Google Shape;366;p29"/>
          <p:cNvSpPr txBox="1"/>
          <p:nvPr/>
        </p:nvSpPr>
        <p:spPr>
          <a:xfrm>
            <a:off x="1333500" y="3046958"/>
            <a:ext cx="10001250" cy="52863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0E3A2F"/>
                </a:solidFill>
                <a:latin typeface="Lato"/>
                <a:ea typeface="Lato"/>
                <a:cs typeface="Lato"/>
                <a:sym typeface="Lato"/>
              </a:rPr>
              <a:t>Data Privacy &amp; Encryption:</a:t>
            </a:r>
            <a:r>
              <a:rPr lang="en-US" sz="1350" b="0" i="0" u="none" strike="noStrike" cap="none">
                <a:solidFill>
                  <a:srgbClr val="2C4A3F"/>
                </a:solidFill>
                <a:latin typeface="Lato"/>
                <a:ea typeface="Lato"/>
                <a:cs typeface="Lato"/>
                <a:sym typeface="Lato"/>
              </a:rPr>
              <a:t> Mobile coordinates and contact metadata are fully encrypted end-to-end. The system strictly processes telemetry feeds without tracking persistent personal identity logs.</a:t>
            </a:r>
            <a:endParaRPr/>
          </a:p>
        </p:txBody>
      </p:sp>
      <p:sp>
        <p:nvSpPr>
          <p:cNvPr id="367" name="Google Shape;367;p29"/>
          <p:cNvSpPr txBox="1"/>
          <p:nvPr/>
        </p:nvSpPr>
        <p:spPr>
          <a:xfrm>
            <a:off x="1333500" y="3747045"/>
            <a:ext cx="10001250" cy="52863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0E3A2F"/>
                </a:solidFill>
                <a:latin typeface="Lato"/>
                <a:ea typeface="Lato"/>
                <a:cs typeface="Lato"/>
                <a:sym typeface="Lato"/>
              </a:rPr>
              <a:t>Confidence Intervals &amp; Explainability:</a:t>
            </a:r>
            <a:r>
              <a:rPr lang="en-US" sz="1350" b="0" i="0" u="none" strike="noStrike" cap="none">
                <a:solidFill>
                  <a:srgbClr val="2C4A3F"/>
                </a:solidFill>
                <a:latin typeface="Lato"/>
                <a:ea typeface="Lato"/>
                <a:cs typeface="Lato"/>
                <a:sym typeface="Lato"/>
              </a:rPr>
              <a:t> Output text messages clearly display calculated confidence scores (e.g., "85% Likelihood of Flood") so farmers can understand risk probabilities.</a:t>
            </a:r>
            <a:endParaRPr/>
          </a:p>
        </p:txBody>
      </p:sp>
      <p:sp>
        <p:nvSpPr>
          <p:cNvPr id="368" name="Google Shape;368;p29"/>
          <p:cNvSpPr txBox="1"/>
          <p:nvPr/>
        </p:nvSpPr>
        <p:spPr>
          <a:xfrm>
            <a:off x="1333500" y="4447133"/>
            <a:ext cx="10001250" cy="52863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0E3A2F"/>
                </a:solidFill>
                <a:latin typeface="Lato"/>
                <a:ea typeface="Lato"/>
                <a:cs typeface="Lato"/>
                <a:sym typeface="Lato"/>
              </a:rPr>
              <a:t>Human-in-the-Loop Safeguards:</a:t>
            </a:r>
            <a:r>
              <a:rPr lang="en-US" sz="1350" b="0" i="0" u="none" strike="noStrike" cap="none">
                <a:solidFill>
                  <a:srgbClr val="2C4A3F"/>
                </a:solidFill>
                <a:latin typeface="Lato"/>
                <a:ea typeface="Lato"/>
                <a:cs typeface="Lato"/>
                <a:sym typeface="Lato"/>
              </a:rPr>
              <a:t> High and Extreme warning events must clear manual validation screens monitored by verified disaster management personnel before global SMS broadcasts are sent.</a:t>
            </a:r>
            <a:endParaRPr/>
          </a:p>
        </p:txBody>
      </p:sp>
      <p:pic>
        <p:nvPicPr>
          <p:cNvPr id="369" name="Google Shape;369;p29" descr="image.png"/>
          <p:cNvPicPr preferRelativeResize="0"/>
          <p:nvPr/>
        </p:nvPicPr>
        <p:blipFill rotWithShape="1">
          <a:blip r:embed="rId4">
            <a:alphaModFix/>
          </a:blip>
          <a:srcRect/>
          <a:stretch/>
        </p:blipFill>
        <p:spPr>
          <a:xfrm>
            <a:off x="904875" y="2361158"/>
            <a:ext cx="266700" cy="219075"/>
          </a:xfrm>
          <a:prstGeom prst="rect">
            <a:avLst/>
          </a:prstGeom>
          <a:noFill/>
          <a:ln>
            <a:noFill/>
          </a:ln>
        </p:spPr>
      </p:pic>
      <p:pic>
        <p:nvPicPr>
          <p:cNvPr id="370" name="Google Shape;370;p29" descr="image.png"/>
          <p:cNvPicPr preferRelativeResize="0"/>
          <p:nvPr/>
        </p:nvPicPr>
        <p:blipFill rotWithShape="1">
          <a:blip r:embed="rId5">
            <a:alphaModFix/>
          </a:blip>
          <a:srcRect/>
          <a:stretch/>
        </p:blipFill>
        <p:spPr>
          <a:xfrm>
            <a:off x="904875" y="3061245"/>
            <a:ext cx="209550" cy="219075"/>
          </a:xfrm>
          <a:prstGeom prst="rect">
            <a:avLst/>
          </a:prstGeom>
          <a:noFill/>
          <a:ln>
            <a:noFill/>
          </a:ln>
        </p:spPr>
      </p:pic>
      <p:pic>
        <p:nvPicPr>
          <p:cNvPr id="371" name="Google Shape;371;p29" descr="image.png"/>
          <p:cNvPicPr preferRelativeResize="0"/>
          <p:nvPr/>
        </p:nvPicPr>
        <p:blipFill rotWithShape="1">
          <a:blip r:embed="rId6">
            <a:alphaModFix/>
          </a:blip>
          <a:srcRect/>
          <a:stretch/>
        </p:blipFill>
        <p:spPr>
          <a:xfrm>
            <a:off x="904875" y="3761333"/>
            <a:ext cx="209550" cy="219075"/>
          </a:xfrm>
          <a:prstGeom prst="rect">
            <a:avLst/>
          </a:prstGeom>
          <a:noFill/>
          <a:ln>
            <a:noFill/>
          </a:ln>
        </p:spPr>
      </p:pic>
      <p:pic>
        <p:nvPicPr>
          <p:cNvPr id="372" name="Google Shape;372;p29" descr="image.png"/>
          <p:cNvPicPr preferRelativeResize="0"/>
          <p:nvPr/>
        </p:nvPicPr>
        <p:blipFill rotWithShape="1">
          <a:blip r:embed="rId7">
            <a:alphaModFix/>
          </a:blip>
          <a:srcRect/>
          <a:stretch/>
        </p:blipFill>
        <p:spPr>
          <a:xfrm>
            <a:off x="904875" y="4461420"/>
            <a:ext cx="266700" cy="219075"/>
          </a:xfrm>
          <a:prstGeom prst="rect">
            <a:avLst/>
          </a:prstGeom>
          <a:noFill/>
          <a:ln>
            <a:noFill/>
          </a:ln>
        </p:spPr>
      </p:pic>
      <p:sp>
        <p:nvSpPr>
          <p:cNvPr id="373" name="Google Shape;373;p29"/>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Responsible AI Considerations</a:t>
            </a:r>
            <a:endParaRPr/>
          </a:p>
        </p:txBody>
      </p:sp>
      <p:sp>
        <p:nvSpPr>
          <p:cNvPr id="374" name="Google Shape;374;p29"/>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378"/>
        <p:cNvGrpSpPr/>
        <p:nvPr/>
      </p:nvGrpSpPr>
      <p:grpSpPr>
        <a:xfrm>
          <a:off x="0" y="0"/>
          <a:ext cx="0" cy="0"/>
          <a:chOff x="0" y="0"/>
          <a:chExt cx="0" cy="0"/>
        </a:xfrm>
      </p:grpSpPr>
      <p:pic>
        <p:nvPicPr>
          <p:cNvPr id="379" name="Google Shape;379;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80" name="Google Shape;380;p30" descr="image.png"/>
          <p:cNvPicPr preferRelativeResize="0"/>
          <p:nvPr/>
        </p:nvPicPr>
        <p:blipFill rotWithShape="1">
          <a:blip r:embed="rId4">
            <a:alphaModFix/>
          </a:blip>
          <a:srcRect/>
          <a:stretch/>
        </p:blipFill>
        <p:spPr>
          <a:xfrm>
            <a:off x="666750" y="2661195"/>
            <a:ext cx="4152900" cy="2171700"/>
          </a:xfrm>
          <a:prstGeom prst="rect">
            <a:avLst/>
          </a:prstGeom>
          <a:noFill/>
          <a:ln>
            <a:noFill/>
          </a:ln>
        </p:spPr>
      </p:pic>
      <p:sp>
        <p:nvSpPr>
          <p:cNvPr id="381" name="Google Shape;381;p30"/>
          <p:cNvSpPr txBox="1"/>
          <p:nvPr/>
        </p:nvSpPr>
        <p:spPr>
          <a:xfrm>
            <a:off x="1066800" y="3061245"/>
            <a:ext cx="3352800"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059669"/>
                </a:solidFill>
                <a:latin typeface="Poppins"/>
                <a:ea typeface="Poppins"/>
                <a:cs typeface="Poppins"/>
                <a:sym typeface="Poppins"/>
              </a:rPr>
              <a:t>40%</a:t>
            </a:r>
            <a:endParaRPr/>
          </a:p>
        </p:txBody>
      </p:sp>
      <p:sp>
        <p:nvSpPr>
          <p:cNvPr id="382" name="Google Shape;382;p30"/>
          <p:cNvSpPr txBox="1"/>
          <p:nvPr/>
        </p:nvSpPr>
        <p:spPr>
          <a:xfrm>
            <a:off x="1066800" y="4204245"/>
            <a:ext cx="3352800"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0E3A2F"/>
                </a:solidFill>
                <a:latin typeface="Lato"/>
                <a:ea typeface="Lato"/>
                <a:cs typeface="Lato"/>
                <a:sym typeface="Lato"/>
              </a:rPr>
              <a:t>DISASTER IMPACT REDUCTION</a:t>
            </a:r>
            <a:endParaRPr/>
          </a:p>
        </p:txBody>
      </p:sp>
      <p:sp>
        <p:nvSpPr>
          <p:cNvPr id="383" name="Google Shape;383;p30"/>
          <p:cNvSpPr txBox="1"/>
          <p:nvPr/>
        </p:nvSpPr>
        <p:spPr>
          <a:xfrm>
            <a:off x="5295900" y="2689770"/>
            <a:ext cx="654081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E3A2F"/>
                </a:solidFill>
                <a:latin typeface="Poppins"/>
                <a:ea typeface="Poppins"/>
                <a:cs typeface="Poppins"/>
                <a:sym typeface="Poppins"/>
              </a:rPr>
              <a:t>Measurable Climate Action</a:t>
            </a:r>
            <a:endParaRPr/>
          </a:p>
        </p:txBody>
      </p:sp>
      <p:sp>
        <p:nvSpPr>
          <p:cNvPr id="384" name="Google Shape;384;p30"/>
          <p:cNvSpPr txBox="1"/>
          <p:nvPr/>
        </p:nvSpPr>
        <p:spPr>
          <a:xfrm>
            <a:off x="5295900" y="3108870"/>
            <a:ext cx="62293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4A3F"/>
                </a:solidFill>
                <a:latin typeface="Lato"/>
                <a:ea typeface="Lato"/>
                <a:cs typeface="Lato"/>
                <a:sym typeface="Lato"/>
              </a:rPr>
              <a:t>Our platform is explicitly engineered to align with the United Nations Agenda for Sustainable Development, targeting robust adaptation mechanisms:</a:t>
            </a:r>
            <a:endParaRPr/>
          </a:p>
        </p:txBody>
      </p:sp>
      <p:sp>
        <p:nvSpPr>
          <p:cNvPr id="385" name="Google Shape;385;p30"/>
          <p:cNvSpPr txBox="1"/>
          <p:nvPr/>
        </p:nvSpPr>
        <p:spPr>
          <a:xfrm>
            <a:off x="5534025" y="3680370"/>
            <a:ext cx="5991225" cy="48577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0E3A2F"/>
                </a:solidFill>
                <a:latin typeface="Lato"/>
                <a:ea typeface="Lato"/>
                <a:cs typeface="Lato"/>
                <a:sym typeface="Lato"/>
              </a:rPr>
              <a:t>Livelihood Shield:</a:t>
            </a:r>
            <a:r>
              <a:rPr lang="en-US" sz="1125" b="0" i="0" u="none" strike="noStrike" cap="none">
                <a:solidFill>
                  <a:srgbClr val="2C4A3F"/>
                </a:solidFill>
                <a:latin typeface="Lato"/>
                <a:ea typeface="Lato"/>
                <a:cs typeface="Lato"/>
                <a:sym typeface="Lato"/>
              </a:rPr>
              <a:t> Limits catastrophic soil and crop losses, ensuring stable agrarian income despite weather shifts.</a:t>
            </a:r>
            <a:endParaRPr/>
          </a:p>
        </p:txBody>
      </p:sp>
      <p:sp>
        <p:nvSpPr>
          <p:cNvPr id="386" name="Google Shape;386;p30"/>
          <p:cNvSpPr txBox="1"/>
          <p:nvPr/>
        </p:nvSpPr>
        <p:spPr>
          <a:xfrm>
            <a:off x="5534025" y="4242345"/>
            <a:ext cx="5991225" cy="48577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0E3A2F"/>
                </a:solidFill>
                <a:latin typeface="Lato"/>
                <a:ea typeface="Lato"/>
                <a:cs typeface="Lato"/>
                <a:sym typeface="Lato"/>
              </a:rPr>
              <a:t>Health Resilience:</a:t>
            </a:r>
            <a:r>
              <a:rPr lang="en-US" sz="1125" b="0" i="0" u="none" strike="noStrike" cap="none">
                <a:solidFill>
                  <a:srgbClr val="2C4A3F"/>
                </a:solidFill>
                <a:latin typeface="Lato"/>
                <a:ea typeface="Lato"/>
                <a:cs typeface="Lato"/>
                <a:sym typeface="Lato"/>
              </a:rPr>
              <a:t> Safeguards outdoor workforce segments from acute thermal stress via proactive heat advisories.</a:t>
            </a:r>
            <a:endParaRPr/>
          </a:p>
        </p:txBody>
      </p:sp>
      <p:pic>
        <p:nvPicPr>
          <p:cNvPr id="387" name="Google Shape;387;p30" descr="image.png"/>
          <p:cNvPicPr preferRelativeResize="0"/>
          <p:nvPr/>
        </p:nvPicPr>
        <p:blipFill rotWithShape="1">
          <a:blip r:embed="rId5">
            <a:alphaModFix/>
          </a:blip>
          <a:srcRect/>
          <a:stretch/>
        </p:blipFill>
        <p:spPr>
          <a:xfrm>
            <a:off x="5343525" y="3694658"/>
            <a:ext cx="171450" cy="180975"/>
          </a:xfrm>
          <a:prstGeom prst="rect">
            <a:avLst/>
          </a:prstGeom>
          <a:noFill/>
          <a:ln>
            <a:noFill/>
          </a:ln>
        </p:spPr>
      </p:pic>
      <p:pic>
        <p:nvPicPr>
          <p:cNvPr id="388" name="Google Shape;388;p30" descr="image.png"/>
          <p:cNvPicPr preferRelativeResize="0"/>
          <p:nvPr/>
        </p:nvPicPr>
        <p:blipFill rotWithShape="1">
          <a:blip r:embed="rId5">
            <a:alphaModFix/>
          </a:blip>
          <a:srcRect/>
          <a:stretch/>
        </p:blipFill>
        <p:spPr>
          <a:xfrm>
            <a:off x="5343525" y="4256633"/>
            <a:ext cx="171450" cy="180975"/>
          </a:xfrm>
          <a:prstGeom prst="rect">
            <a:avLst/>
          </a:prstGeom>
          <a:noFill/>
          <a:ln>
            <a:noFill/>
          </a:ln>
        </p:spPr>
      </p:pic>
      <p:sp>
        <p:nvSpPr>
          <p:cNvPr id="389" name="Google Shape;389;p30"/>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UN SDG 13: Target 13.1 Impact</a:t>
            </a:r>
            <a:endParaRPr/>
          </a:p>
        </p:txBody>
      </p:sp>
      <p:sp>
        <p:nvSpPr>
          <p:cNvPr id="390" name="Google Shape;390;p30"/>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394"/>
        <p:cNvGrpSpPr/>
        <p:nvPr/>
      </p:nvGrpSpPr>
      <p:grpSpPr>
        <a:xfrm>
          <a:off x="0" y="0"/>
          <a:ext cx="0" cy="0"/>
          <a:chOff x="0" y="0"/>
          <a:chExt cx="0" cy="0"/>
        </a:xfrm>
      </p:grpSpPr>
      <p:pic>
        <p:nvPicPr>
          <p:cNvPr id="395" name="Google Shape;395;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96" name="Google Shape;396;p31" descr="image.png"/>
          <p:cNvPicPr preferRelativeResize="0"/>
          <p:nvPr/>
        </p:nvPicPr>
        <p:blipFill rotWithShape="1">
          <a:blip r:embed="rId4">
            <a:alphaModFix/>
          </a:blip>
          <a:srcRect/>
          <a:stretch/>
        </p:blipFill>
        <p:spPr>
          <a:xfrm>
            <a:off x="666750" y="1112490"/>
            <a:ext cx="10858500" cy="5269259"/>
          </a:xfrm>
          <a:prstGeom prst="rect">
            <a:avLst/>
          </a:prstGeom>
          <a:noFill/>
          <a:ln>
            <a:noFill/>
          </a:ln>
        </p:spPr>
      </p:pic>
      <p:sp>
        <p:nvSpPr>
          <p:cNvPr id="397" name="Google Shape;397;p31"/>
          <p:cNvSpPr txBox="1"/>
          <p:nvPr/>
        </p:nvSpPr>
        <p:spPr>
          <a:xfrm>
            <a:off x="666750" y="5211514"/>
            <a:ext cx="10858500" cy="214312"/>
          </a:xfrm>
          <a:prstGeom prst="rect">
            <a:avLst/>
          </a:prstGeom>
          <a:noFill/>
          <a:ln>
            <a:noFill/>
          </a:ln>
        </p:spPr>
        <p:txBody>
          <a:bodyPr spcFirstLastPara="1" wrap="square" lIns="0" tIns="0" rIns="0" bIns="0" anchor="t" anchorCtr="0">
            <a:spAutoFit/>
          </a:bodyPr>
          <a:lstStyle/>
          <a:p>
            <a:pPr marL="0" marR="0" lvl="0" indent="0" algn="ctr" rtl="0">
              <a:lnSpc>
                <a:spcPct val="149955"/>
              </a:lnSpc>
              <a:spcBef>
                <a:spcPts val="0"/>
              </a:spcBef>
              <a:spcAft>
                <a:spcPts val="0"/>
              </a:spcAft>
              <a:buNone/>
            </a:pPr>
            <a:r>
              <a:rPr lang="en-US" sz="1125" b="0" i="1" u="none" strike="noStrike" cap="none">
                <a:solidFill>
                  <a:srgbClr val="4B6B5F"/>
                </a:solidFill>
                <a:latin typeface="Lato"/>
                <a:ea typeface="Lato"/>
                <a:cs typeface="Lato"/>
                <a:sym typeface="Lato"/>
              </a:rPr>
              <a:t>The system is primarily structured to protect rural farming and coastal families, who represent 75% of our priority alert coverage.</a:t>
            </a:r>
            <a:endParaRPr/>
          </a:p>
        </p:txBody>
      </p:sp>
      <p:sp>
        <p:nvSpPr>
          <p:cNvPr id="398" name="Google Shape;398;p31"/>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Projected System Reach Proportions</a:t>
            </a:r>
            <a:endParaRPr/>
          </a:p>
        </p:txBody>
      </p:sp>
      <p:sp>
        <p:nvSpPr>
          <p:cNvPr id="399" name="Google Shape;399;p31"/>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403"/>
        <p:cNvGrpSpPr/>
        <p:nvPr/>
      </p:nvGrpSpPr>
      <p:grpSpPr>
        <a:xfrm>
          <a:off x="0" y="0"/>
          <a:ext cx="0" cy="0"/>
          <a:chOff x="0" y="0"/>
          <a:chExt cx="0" cy="0"/>
        </a:xfrm>
      </p:grpSpPr>
      <p:pic>
        <p:nvPicPr>
          <p:cNvPr id="404" name="Google Shape;404;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05" name="Google Shape;405;p32" descr="image.png"/>
          <p:cNvPicPr preferRelativeResize="0"/>
          <p:nvPr/>
        </p:nvPicPr>
        <p:blipFill rotWithShape="1">
          <a:blip r:embed="rId4">
            <a:alphaModFix/>
          </a:blip>
          <a:srcRect/>
          <a:stretch/>
        </p:blipFill>
        <p:spPr>
          <a:xfrm>
            <a:off x="666750" y="2023020"/>
            <a:ext cx="10858500" cy="3448050"/>
          </a:xfrm>
          <a:prstGeom prst="rect">
            <a:avLst/>
          </a:prstGeom>
          <a:noFill/>
          <a:ln>
            <a:noFill/>
          </a:ln>
        </p:spPr>
      </p:pic>
      <p:graphicFrame>
        <p:nvGraphicFramePr>
          <p:cNvPr id="406" name="Google Shape;406;p32"/>
          <p:cNvGraphicFramePr/>
          <p:nvPr/>
        </p:nvGraphicFramePr>
        <p:xfrm>
          <a:off x="676275" y="2032545"/>
          <a:ext cx="10839450" cy="3429000"/>
        </p:xfrm>
        <a:graphic>
          <a:graphicData uri="http://schemas.openxmlformats.org/drawingml/2006/table">
            <a:tbl>
              <a:tblPr firstRow="1" bandRow="1">
                <a:noFill/>
                <a:tableStyleId>{67ECF497-6C0B-41B7-8775-31B366413254}</a:tableStyleId>
              </a:tblPr>
              <a:tblGrid>
                <a:gridCol w="2167825">
                  <a:extLst>
                    <a:ext uri="{9D8B030D-6E8A-4147-A177-3AD203B41FA5}">
                      <a16:colId xmlns:a16="http://schemas.microsoft.com/office/drawing/2014/main" val="20000"/>
                    </a:ext>
                  </a:extLst>
                </a:gridCol>
                <a:gridCol w="5419725">
                  <a:extLst>
                    <a:ext uri="{9D8B030D-6E8A-4147-A177-3AD203B41FA5}">
                      <a16:colId xmlns:a16="http://schemas.microsoft.com/office/drawing/2014/main" val="20001"/>
                    </a:ext>
                  </a:extLst>
                </a:gridCol>
                <a:gridCol w="3251900">
                  <a:extLst>
                    <a:ext uri="{9D8B030D-6E8A-4147-A177-3AD203B41FA5}">
                      <a16:colId xmlns:a16="http://schemas.microsoft.com/office/drawing/2014/main" val="20002"/>
                    </a:ext>
                  </a:extLst>
                </a:gridCol>
              </a:tblGrid>
              <a:tr h="685800">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Phase &amp; Timeline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Core Technical &amp; Design Deliverables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tc>
                  <a:txBody>
                    <a:bodyPr/>
                    <a:lstStyle/>
                    <a:p>
                      <a:pPr marL="0" marR="0" lvl="0" indent="0" algn="l" rtl="0">
                        <a:spcBef>
                          <a:spcPts val="0"/>
                        </a:spcBef>
                        <a:spcAft>
                          <a:spcPts val="0"/>
                        </a:spcAft>
                        <a:buNone/>
                      </a:pPr>
                      <a:r>
                        <a:rPr lang="en-US" sz="1200" b="0" i="0" u="none" strike="noStrike" cap="none">
                          <a:solidFill>
                            <a:srgbClr val="FAFDFB"/>
                          </a:solidFill>
                          <a:latin typeface="Poppins SemiBold"/>
                          <a:ea typeface="Poppins SemiBold"/>
                          <a:cs typeface="Poppins SemiBold"/>
                          <a:sym typeface="Poppins SemiBold"/>
                        </a:rPr>
                        <a:t>Success Milestones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3A2F"/>
                    </a:solidFill>
                  </a:tcPr>
                </a:tc>
                <a:extLst>
                  <a:ext uri="{0D108BD9-81ED-4DB2-BD59-A6C34878D82A}">
                    <a16:rowId xmlns:a16="http://schemas.microsoft.com/office/drawing/2014/main" val="10000"/>
                  </a:ext>
                </a:extLst>
              </a:tr>
              <a:tr h="68580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Weeks 1 - 2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Establish automated pipeline integrations with IMD, NASA, and ISRO endpoints. Execute initial EDA.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059669"/>
                          </a:solidFill>
                          <a:latin typeface="Lato"/>
                          <a:ea typeface="Lato"/>
                          <a:cs typeface="Lato"/>
                          <a:sym typeface="Lato"/>
                        </a:rPr>
                        <a:t> Active Ingestion Pipelines</a:t>
                      </a:r>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8580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Weeks 3 - 4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Develop and train LSTM time-series networks. Refine XGBoost hazard categorization matrices.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059669"/>
                          </a:solidFill>
                          <a:latin typeface="Lato"/>
                          <a:ea typeface="Lato"/>
                          <a:cs typeface="Lato"/>
                          <a:sym typeface="Lato"/>
                        </a:rPr>
                        <a:t> ≥75% 3-Day Accuracy Target</a:t>
                      </a:r>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extLst>
                  <a:ext uri="{0D108BD9-81ED-4DB2-BD59-A6C34878D82A}">
                    <a16:rowId xmlns:a16="http://schemas.microsoft.com/office/drawing/2014/main" val="10002"/>
                  </a:ext>
                </a:extLst>
              </a:tr>
              <a:tr h="68580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Weeks 5 - 6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Build mobile-responsive web dashboard with interactive location-based warning maps and user registration logic.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059669"/>
                          </a:solidFill>
                          <a:latin typeface="Lato"/>
                          <a:ea typeface="Lato"/>
                          <a:cs typeface="Lato"/>
                          <a:sym typeface="Lato"/>
                        </a:rPr>
                        <a:t> Operational REST APIs &amp; Map UI</a:t>
                      </a:r>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85800">
                <a:tc>
                  <a:txBody>
                    <a:bodyPr/>
                    <a:lstStyle/>
                    <a:p>
                      <a:pPr marL="0" marR="0" lvl="0" indent="0" algn="l" rtl="0">
                        <a:spcBef>
                          <a:spcPts val="0"/>
                        </a:spcBef>
                        <a:spcAft>
                          <a:spcPts val="0"/>
                        </a:spcAft>
                        <a:buNone/>
                      </a:pPr>
                      <a:r>
                        <a:rPr lang="en-US" sz="1200" b="1" i="0" u="none" strike="noStrike" cap="none">
                          <a:solidFill>
                            <a:srgbClr val="2C4A3F"/>
                          </a:solidFill>
                          <a:latin typeface="Lato"/>
                          <a:ea typeface="Lato"/>
                          <a:cs typeface="Lato"/>
                          <a:sym typeface="Lato"/>
                        </a:rPr>
                        <a:t>Weeks 7 - 8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2C4A3F"/>
                          </a:solidFill>
                          <a:latin typeface="Lato"/>
                          <a:ea typeface="Lato"/>
                          <a:cs typeface="Lato"/>
                          <a:sym typeface="Lato"/>
                        </a:rPr>
                        <a:t>Conduct end-to-end historical climate dry-runs. Gather feedback from pilot users. Publish internship reports.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tc>
                  <a:txBody>
                    <a:bodyPr/>
                    <a:lstStyle/>
                    <a:p>
                      <a:pPr marL="0" marR="0" lvl="0" indent="0" algn="l" rtl="0">
                        <a:spcBef>
                          <a:spcPts val="0"/>
                        </a:spcBef>
                        <a:spcAft>
                          <a:spcPts val="0"/>
                        </a:spcAft>
                        <a:buNone/>
                      </a:pPr>
                      <a:r>
                        <a:rPr lang="en-US" sz="1200" b="0" i="0" u="none" strike="noStrike" cap="none">
                          <a:solidFill>
                            <a:srgbClr val="059669"/>
                          </a:solidFill>
                          <a:latin typeface="Lato"/>
                          <a:ea typeface="Lato"/>
                          <a:cs typeface="Lato"/>
                          <a:sym typeface="Lato"/>
                        </a:rPr>
                        <a:t> UAT Approved &amp; Cloud Live</a:t>
                      </a:r>
                      <a:endParaRPr/>
                    </a:p>
                  </a:txBody>
                  <a:tcPr marL="2667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AF8"/>
                    </a:solidFill>
                  </a:tcPr>
                </a:tc>
                <a:extLst>
                  <a:ext uri="{0D108BD9-81ED-4DB2-BD59-A6C34878D82A}">
                    <a16:rowId xmlns:a16="http://schemas.microsoft.com/office/drawing/2014/main" val="10004"/>
                  </a:ext>
                </a:extLst>
              </a:tr>
            </a:tbl>
          </a:graphicData>
        </a:graphic>
      </p:graphicFrame>
      <p:sp>
        <p:nvSpPr>
          <p:cNvPr id="407" name="Google Shape;407;p32"/>
          <p:cNvSpPr/>
          <p:nvPr/>
        </p:nvSpPr>
        <p:spPr>
          <a:xfrm>
            <a:off x="676275" y="3246983"/>
            <a:ext cx="2167830"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8" name="Google Shape;408;p32"/>
          <p:cNvSpPr/>
          <p:nvPr/>
        </p:nvSpPr>
        <p:spPr>
          <a:xfrm>
            <a:off x="2844105" y="3246983"/>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9" name="Google Shape;409;p32"/>
          <p:cNvSpPr/>
          <p:nvPr/>
        </p:nvSpPr>
        <p:spPr>
          <a:xfrm>
            <a:off x="8263830" y="3246983"/>
            <a:ext cx="3251894"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0" name="Google Shape;410;p32"/>
          <p:cNvSpPr/>
          <p:nvPr/>
        </p:nvSpPr>
        <p:spPr>
          <a:xfrm>
            <a:off x="676275" y="3980408"/>
            <a:ext cx="2167830"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1" name="Google Shape;411;p32"/>
          <p:cNvSpPr/>
          <p:nvPr/>
        </p:nvSpPr>
        <p:spPr>
          <a:xfrm>
            <a:off x="2844105" y="3980408"/>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2" name="Google Shape;412;p32"/>
          <p:cNvSpPr/>
          <p:nvPr/>
        </p:nvSpPr>
        <p:spPr>
          <a:xfrm>
            <a:off x="8263830" y="3980408"/>
            <a:ext cx="3251894"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3" name="Google Shape;413;p32"/>
          <p:cNvSpPr/>
          <p:nvPr/>
        </p:nvSpPr>
        <p:spPr>
          <a:xfrm>
            <a:off x="676275" y="4713833"/>
            <a:ext cx="2167830"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4" name="Google Shape;414;p32"/>
          <p:cNvSpPr/>
          <p:nvPr/>
        </p:nvSpPr>
        <p:spPr>
          <a:xfrm>
            <a:off x="2844105" y="4713833"/>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5" name="Google Shape;415;p32"/>
          <p:cNvSpPr/>
          <p:nvPr/>
        </p:nvSpPr>
        <p:spPr>
          <a:xfrm>
            <a:off x="8263830" y="4713833"/>
            <a:ext cx="3251894"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6" name="Google Shape;416;p32"/>
          <p:cNvSpPr/>
          <p:nvPr/>
        </p:nvSpPr>
        <p:spPr>
          <a:xfrm>
            <a:off x="676275" y="5447258"/>
            <a:ext cx="2167830"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7" name="Google Shape;417;p32"/>
          <p:cNvSpPr/>
          <p:nvPr/>
        </p:nvSpPr>
        <p:spPr>
          <a:xfrm>
            <a:off x="2844105" y="5447258"/>
            <a:ext cx="5419725"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8" name="Google Shape;418;p32"/>
          <p:cNvSpPr/>
          <p:nvPr/>
        </p:nvSpPr>
        <p:spPr>
          <a:xfrm>
            <a:off x="8263830" y="5447258"/>
            <a:ext cx="3251894" cy="9525"/>
          </a:xfrm>
          <a:prstGeom prst="rect">
            <a:avLst/>
          </a:prstGeom>
          <a:solidFill>
            <a:srgbClr val="E6F4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19" name="Google Shape;419;p32" descr="image.png"/>
          <p:cNvPicPr preferRelativeResize="0"/>
          <p:nvPr/>
        </p:nvPicPr>
        <p:blipFill rotWithShape="1">
          <a:blip r:embed="rId5">
            <a:alphaModFix/>
          </a:blip>
          <a:srcRect/>
          <a:stretch/>
        </p:blipFill>
        <p:spPr>
          <a:xfrm>
            <a:off x="8454330" y="2808833"/>
            <a:ext cx="152400" cy="171450"/>
          </a:xfrm>
          <a:prstGeom prst="rect">
            <a:avLst/>
          </a:prstGeom>
          <a:noFill/>
          <a:ln>
            <a:noFill/>
          </a:ln>
        </p:spPr>
      </p:pic>
      <p:pic>
        <p:nvPicPr>
          <p:cNvPr id="420" name="Google Shape;420;p32" descr="image.png"/>
          <p:cNvPicPr preferRelativeResize="0"/>
          <p:nvPr/>
        </p:nvPicPr>
        <p:blipFill rotWithShape="1">
          <a:blip r:embed="rId6">
            <a:alphaModFix/>
          </a:blip>
          <a:srcRect/>
          <a:stretch/>
        </p:blipFill>
        <p:spPr>
          <a:xfrm>
            <a:off x="8454330" y="5009108"/>
            <a:ext cx="152400" cy="171450"/>
          </a:xfrm>
          <a:prstGeom prst="rect">
            <a:avLst/>
          </a:prstGeom>
          <a:noFill/>
          <a:ln>
            <a:noFill/>
          </a:ln>
        </p:spPr>
      </p:pic>
      <p:pic>
        <p:nvPicPr>
          <p:cNvPr id="421" name="Google Shape;421;p32" descr="image.png"/>
          <p:cNvPicPr preferRelativeResize="0"/>
          <p:nvPr/>
        </p:nvPicPr>
        <p:blipFill rotWithShape="1">
          <a:blip r:embed="rId6">
            <a:alphaModFix/>
          </a:blip>
          <a:srcRect/>
          <a:stretch/>
        </p:blipFill>
        <p:spPr>
          <a:xfrm>
            <a:off x="8454330" y="3542258"/>
            <a:ext cx="152400" cy="171450"/>
          </a:xfrm>
          <a:prstGeom prst="rect">
            <a:avLst/>
          </a:prstGeom>
          <a:noFill/>
          <a:ln>
            <a:noFill/>
          </a:ln>
        </p:spPr>
      </p:pic>
      <p:pic>
        <p:nvPicPr>
          <p:cNvPr id="422" name="Google Shape;422;p32" descr="image.png"/>
          <p:cNvPicPr preferRelativeResize="0"/>
          <p:nvPr/>
        </p:nvPicPr>
        <p:blipFill rotWithShape="1">
          <a:blip r:embed="rId5">
            <a:alphaModFix/>
          </a:blip>
          <a:srcRect/>
          <a:stretch/>
        </p:blipFill>
        <p:spPr>
          <a:xfrm>
            <a:off x="8454330" y="4275683"/>
            <a:ext cx="152400" cy="171450"/>
          </a:xfrm>
          <a:prstGeom prst="rect">
            <a:avLst/>
          </a:prstGeom>
          <a:noFill/>
          <a:ln>
            <a:noFill/>
          </a:ln>
        </p:spPr>
      </p:pic>
      <p:pic>
        <p:nvPicPr>
          <p:cNvPr id="423" name="Google Shape;423;p32" descr="image.png"/>
          <p:cNvPicPr preferRelativeResize="0"/>
          <p:nvPr/>
        </p:nvPicPr>
        <p:blipFill rotWithShape="1">
          <a:blip r:embed="rId5">
            <a:alphaModFix/>
          </a:blip>
          <a:srcRect/>
          <a:stretch/>
        </p:blipFill>
        <p:spPr>
          <a:xfrm>
            <a:off x="8454330" y="2808833"/>
            <a:ext cx="152400" cy="171450"/>
          </a:xfrm>
          <a:prstGeom prst="rect">
            <a:avLst/>
          </a:prstGeom>
          <a:noFill/>
          <a:ln>
            <a:noFill/>
          </a:ln>
        </p:spPr>
      </p:pic>
      <p:pic>
        <p:nvPicPr>
          <p:cNvPr id="424" name="Google Shape;424;p32" descr="image.png"/>
          <p:cNvPicPr preferRelativeResize="0"/>
          <p:nvPr/>
        </p:nvPicPr>
        <p:blipFill rotWithShape="1">
          <a:blip r:embed="rId6">
            <a:alphaModFix/>
          </a:blip>
          <a:srcRect/>
          <a:stretch/>
        </p:blipFill>
        <p:spPr>
          <a:xfrm>
            <a:off x="8454330" y="3542258"/>
            <a:ext cx="152400" cy="171450"/>
          </a:xfrm>
          <a:prstGeom prst="rect">
            <a:avLst/>
          </a:prstGeom>
          <a:noFill/>
          <a:ln>
            <a:noFill/>
          </a:ln>
        </p:spPr>
      </p:pic>
      <p:pic>
        <p:nvPicPr>
          <p:cNvPr id="425" name="Google Shape;425;p32" descr="image.png"/>
          <p:cNvPicPr preferRelativeResize="0"/>
          <p:nvPr/>
        </p:nvPicPr>
        <p:blipFill rotWithShape="1">
          <a:blip r:embed="rId5">
            <a:alphaModFix/>
          </a:blip>
          <a:srcRect/>
          <a:stretch/>
        </p:blipFill>
        <p:spPr>
          <a:xfrm>
            <a:off x="8454330" y="4275683"/>
            <a:ext cx="152400" cy="171450"/>
          </a:xfrm>
          <a:prstGeom prst="rect">
            <a:avLst/>
          </a:prstGeom>
          <a:noFill/>
          <a:ln>
            <a:noFill/>
          </a:ln>
        </p:spPr>
      </p:pic>
      <p:pic>
        <p:nvPicPr>
          <p:cNvPr id="426" name="Google Shape;426;p32" descr="image.png"/>
          <p:cNvPicPr preferRelativeResize="0"/>
          <p:nvPr/>
        </p:nvPicPr>
        <p:blipFill rotWithShape="1">
          <a:blip r:embed="rId6">
            <a:alphaModFix/>
          </a:blip>
          <a:srcRect/>
          <a:stretch/>
        </p:blipFill>
        <p:spPr>
          <a:xfrm>
            <a:off x="8454330" y="5009108"/>
            <a:ext cx="152400" cy="171450"/>
          </a:xfrm>
          <a:prstGeom prst="rect">
            <a:avLst/>
          </a:prstGeom>
          <a:noFill/>
          <a:ln>
            <a:noFill/>
          </a:ln>
        </p:spPr>
      </p:pic>
      <p:sp>
        <p:nvSpPr>
          <p:cNvPr id="427" name="Google Shape;427;p32"/>
          <p:cNvSpPr txBox="1"/>
          <p:nvPr/>
        </p:nvSpPr>
        <p:spPr>
          <a:xfrm>
            <a:off x="809625" y="476250"/>
            <a:ext cx="11251406"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Internship Implementation Plan</a:t>
            </a:r>
            <a:endParaRPr/>
          </a:p>
        </p:txBody>
      </p:sp>
      <p:sp>
        <p:nvSpPr>
          <p:cNvPr id="428" name="Google Shape;428;p32"/>
          <p:cNvSpPr/>
          <p:nvPr/>
        </p:nvSpPr>
        <p:spPr>
          <a:xfrm>
            <a:off x="666750" y="476250"/>
            <a:ext cx="57150" cy="39811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432"/>
        <p:cNvGrpSpPr/>
        <p:nvPr/>
      </p:nvGrpSpPr>
      <p:grpSpPr>
        <a:xfrm>
          <a:off x="0" y="0"/>
          <a:ext cx="0" cy="0"/>
          <a:chOff x="0" y="0"/>
          <a:chExt cx="0" cy="0"/>
        </a:xfrm>
      </p:grpSpPr>
      <p:pic>
        <p:nvPicPr>
          <p:cNvPr id="433" name="Google Shape;433;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34" name="Google Shape;434;p33" descr="image.png"/>
          <p:cNvPicPr preferRelativeResize="0"/>
          <p:nvPr/>
        </p:nvPicPr>
        <p:blipFill rotWithShape="1">
          <a:blip r:embed="rId4">
            <a:alphaModFix/>
          </a:blip>
          <a:srcRect/>
          <a:stretch/>
        </p:blipFill>
        <p:spPr>
          <a:xfrm>
            <a:off x="0" y="-1"/>
            <a:ext cx="12192000" cy="6858001"/>
          </a:xfrm>
          <a:prstGeom prst="rect">
            <a:avLst/>
          </a:prstGeom>
          <a:noFill/>
          <a:ln>
            <a:noFill/>
          </a:ln>
        </p:spPr>
      </p:pic>
      <p:sp>
        <p:nvSpPr>
          <p:cNvPr id="435" name="Google Shape;435;p33"/>
          <p:cNvSpPr txBox="1"/>
          <p:nvPr/>
        </p:nvSpPr>
        <p:spPr>
          <a:xfrm>
            <a:off x="680323" y="1845468"/>
            <a:ext cx="10831353" cy="971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100" b="1" i="0" u="none" strike="noStrike" cap="none">
                <a:solidFill>
                  <a:srgbClr val="FAFDFB"/>
                </a:solidFill>
                <a:latin typeface="Poppins"/>
                <a:ea typeface="Poppins"/>
                <a:cs typeface="Poppins"/>
                <a:sym typeface="Poppins"/>
              </a:rPr>
              <a:t>Building for Real-World Impact</a:t>
            </a:r>
            <a:endParaRPr/>
          </a:p>
        </p:txBody>
      </p:sp>
      <p:sp>
        <p:nvSpPr>
          <p:cNvPr id="436" name="Google Shape;436;p33"/>
          <p:cNvSpPr txBox="1"/>
          <p:nvPr/>
        </p:nvSpPr>
        <p:spPr>
          <a:xfrm>
            <a:off x="3181351" y="2959893"/>
            <a:ext cx="5700712" cy="380873"/>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1" i="0" u="none" strike="noStrike" cap="none" dirty="0">
                <a:solidFill>
                  <a:schemeClr val="bg1"/>
                </a:solidFill>
                <a:latin typeface="Lato"/>
                <a:ea typeface="Lato"/>
                <a:cs typeface="Lato"/>
                <a:sym typeface="Lato"/>
              </a:rPr>
              <a:t>Thank you!</a:t>
            </a:r>
            <a:r>
              <a:rPr lang="en-US" sz="1650" b="1" i="0" u="none" strike="noStrike" cap="none" dirty="0">
                <a:solidFill>
                  <a:srgbClr val="A7F3D0"/>
                </a:solidFill>
                <a:latin typeface="Lato"/>
                <a:ea typeface="Lato"/>
                <a:cs typeface="Lato"/>
                <a:sym typeface="Lato"/>
              </a:rPr>
              <a:t> </a:t>
            </a:r>
            <a:r>
              <a:rPr lang="en-US" sz="1650" b="0" i="0" u="none" strike="noStrike" cap="none" dirty="0">
                <a:solidFill>
                  <a:srgbClr val="A7F3D0"/>
                </a:solidFill>
                <a:latin typeface="Lato"/>
                <a:ea typeface="Lato"/>
                <a:cs typeface="Lato"/>
                <a:sym typeface="Lato"/>
              </a:rPr>
              <a:t>Let's collaborate for actionable climate resilience.</a:t>
            </a:r>
            <a:endParaRPr dirty="0"/>
          </a:p>
        </p:txBody>
      </p:sp>
      <p:pic>
        <p:nvPicPr>
          <p:cNvPr id="437" name="Google Shape;437;p33" descr="image.png"/>
          <p:cNvPicPr preferRelativeResize="0"/>
          <p:nvPr/>
        </p:nvPicPr>
        <p:blipFill rotWithShape="1">
          <a:blip r:embed="rId5">
            <a:alphaModFix/>
          </a:blip>
          <a:srcRect/>
          <a:stretch/>
        </p:blipFill>
        <p:spPr>
          <a:xfrm>
            <a:off x="2586701" y="3659350"/>
            <a:ext cx="6976400" cy="679975"/>
          </a:xfrm>
          <a:prstGeom prst="rect">
            <a:avLst/>
          </a:prstGeom>
          <a:noFill/>
          <a:ln>
            <a:noFill/>
          </a:ln>
        </p:spPr>
      </p:pic>
      <p:sp>
        <p:nvSpPr>
          <p:cNvPr id="438" name="Google Shape;438;p33"/>
          <p:cNvSpPr txBox="1"/>
          <p:nvPr/>
        </p:nvSpPr>
        <p:spPr>
          <a:xfrm>
            <a:off x="3762375" y="3811351"/>
            <a:ext cx="2362200" cy="311624"/>
          </a:xfrm>
          <a:prstGeom prst="rect">
            <a:avLst/>
          </a:prstGeom>
          <a:noFill/>
          <a:ln>
            <a:noFill/>
          </a:ln>
        </p:spPr>
        <p:txBody>
          <a:bodyPr spcFirstLastPara="1" wrap="square" lIns="0" tIns="0" rIns="0" bIns="0" anchor="ctr" anchorCtr="0">
            <a:spAutoFit/>
          </a:bodyPr>
          <a:lstStyle/>
          <a:p>
            <a:pPr marL="0" marR="0" lvl="0" indent="0" algn="ctr" rtl="0">
              <a:lnSpc>
                <a:spcPct val="150000"/>
              </a:lnSpc>
              <a:spcBef>
                <a:spcPts val="0"/>
              </a:spcBef>
              <a:spcAft>
                <a:spcPts val="0"/>
              </a:spcAft>
              <a:buNone/>
            </a:pPr>
            <a:r>
              <a:rPr lang="en-US" sz="1350" b="0" i="0" u="none" strike="noStrike" cap="none" dirty="0">
                <a:solidFill>
                  <a:srgbClr val="FAFDFB"/>
                </a:solidFill>
                <a:latin typeface="Lato"/>
                <a:ea typeface="Lato"/>
                <a:cs typeface="Lato"/>
                <a:sym typeface="Lato"/>
              </a:rPr>
              <a:t>contact@skillsbuild-intern.org</a:t>
            </a:r>
            <a:endParaRPr dirty="0"/>
          </a:p>
        </p:txBody>
      </p:sp>
      <p:sp>
        <p:nvSpPr>
          <p:cNvPr id="439" name="Google Shape;439;p33"/>
          <p:cNvSpPr txBox="1"/>
          <p:nvPr/>
        </p:nvSpPr>
        <p:spPr>
          <a:xfrm>
            <a:off x="6519975" y="3811353"/>
            <a:ext cx="2362200" cy="311624"/>
          </a:xfrm>
          <a:prstGeom prst="rect">
            <a:avLst/>
          </a:prstGeom>
          <a:noFill/>
          <a:ln>
            <a:noFill/>
          </a:ln>
        </p:spPr>
        <p:txBody>
          <a:bodyPr spcFirstLastPara="1" wrap="square" lIns="0" tIns="0" rIns="0" bIns="0" anchor="ctr" anchorCtr="0">
            <a:spAutoFit/>
          </a:bodyPr>
          <a:lstStyle/>
          <a:p>
            <a:pPr marL="0" marR="0" lvl="0" indent="0" algn="ctr" rtl="0">
              <a:lnSpc>
                <a:spcPct val="150000"/>
              </a:lnSpc>
              <a:spcBef>
                <a:spcPts val="0"/>
              </a:spcBef>
              <a:spcAft>
                <a:spcPts val="0"/>
              </a:spcAft>
              <a:buNone/>
            </a:pPr>
            <a:r>
              <a:rPr lang="en-US" sz="1350" b="0" i="0" u="none" strike="noStrike" cap="none" dirty="0">
                <a:solidFill>
                  <a:srgbClr val="FAFDFB"/>
                </a:solidFill>
                <a:latin typeface="Lato"/>
                <a:ea typeface="Lato"/>
                <a:cs typeface="Lato"/>
                <a:sym typeface="Lato"/>
              </a:rPr>
              <a:t>1m1b-climate-alert.org</a:t>
            </a:r>
            <a:endParaRPr dirty="0"/>
          </a:p>
        </p:txBody>
      </p:sp>
      <p:pic>
        <p:nvPicPr>
          <p:cNvPr id="440" name="Google Shape;440;p33" descr="image.png"/>
          <p:cNvPicPr preferRelativeResize="0"/>
          <p:nvPr/>
        </p:nvPicPr>
        <p:blipFill rotWithShape="1">
          <a:blip r:embed="rId6">
            <a:alphaModFix/>
          </a:blip>
          <a:srcRect/>
          <a:stretch/>
        </p:blipFill>
        <p:spPr>
          <a:xfrm>
            <a:off x="3919537" y="4693443"/>
            <a:ext cx="1295400" cy="319087"/>
          </a:xfrm>
          <a:prstGeom prst="rect">
            <a:avLst/>
          </a:prstGeom>
          <a:noFill/>
          <a:ln>
            <a:noFill/>
          </a:ln>
        </p:spPr>
      </p:pic>
      <p:pic>
        <p:nvPicPr>
          <p:cNvPr id="441" name="Google Shape;441;p33" descr="image.png"/>
          <p:cNvPicPr preferRelativeResize="0"/>
          <p:nvPr/>
        </p:nvPicPr>
        <p:blipFill rotWithShape="1">
          <a:blip r:embed="rId7">
            <a:alphaModFix/>
          </a:blip>
          <a:srcRect/>
          <a:stretch/>
        </p:blipFill>
        <p:spPr>
          <a:xfrm>
            <a:off x="5405437" y="4693443"/>
            <a:ext cx="1333500" cy="319087"/>
          </a:xfrm>
          <a:prstGeom prst="rect">
            <a:avLst/>
          </a:prstGeom>
          <a:noFill/>
          <a:ln>
            <a:noFill/>
          </a:ln>
        </p:spPr>
      </p:pic>
      <p:pic>
        <p:nvPicPr>
          <p:cNvPr id="442" name="Google Shape;442;p33" descr="image.png"/>
          <p:cNvPicPr preferRelativeResize="0"/>
          <p:nvPr/>
        </p:nvPicPr>
        <p:blipFill rotWithShape="1">
          <a:blip r:embed="rId8">
            <a:alphaModFix/>
          </a:blip>
          <a:srcRect/>
          <a:stretch/>
        </p:blipFill>
        <p:spPr>
          <a:xfrm>
            <a:off x="6929437" y="4693443"/>
            <a:ext cx="1343025" cy="319087"/>
          </a:xfrm>
          <a:prstGeom prst="rect">
            <a:avLst/>
          </a:prstGeom>
          <a:noFill/>
          <a:ln>
            <a:noFill/>
          </a:ln>
        </p:spPr>
      </p:pic>
      <p:pic>
        <p:nvPicPr>
          <p:cNvPr id="443" name="Google Shape;443;p33" descr="image.png"/>
          <p:cNvPicPr preferRelativeResize="0"/>
          <p:nvPr/>
        </p:nvPicPr>
        <p:blipFill rotWithShape="1">
          <a:blip r:embed="rId9">
            <a:alphaModFix/>
          </a:blip>
          <a:srcRect/>
          <a:stretch/>
        </p:blipFill>
        <p:spPr>
          <a:xfrm>
            <a:off x="3571875" y="3888581"/>
            <a:ext cx="190500" cy="190500"/>
          </a:xfrm>
          <a:prstGeom prst="rect">
            <a:avLst/>
          </a:prstGeom>
          <a:noFill/>
          <a:ln>
            <a:noFill/>
          </a:ln>
        </p:spPr>
      </p:pic>
      <p:pic>
        <p:nvPicPr>
          <p:cNvPr id="444" name="Google Shape;444;p33" descr="image.png"/>
          <p:cNvPicPr preferRelativeResize="0"/>
          <p:nvPr/>
        </p:nvPicPr>
        <p:blipFill rotWithShape="1">
          <a:blip r:embed="rId10">
            <a:alphaModFix/>
          </a:blip>
          <a:srcRect/>
          <a:stretch/>
        </p:blipFill>
        <p:spPr>
          <a:xfrm>
            <a:off x="6600825" y="3888581"/>
            <a:ext cx="190500" cy="190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DFB"/>
        </a:solidFill>
        <a:effectLst/>
      </p:bgPr>
    </p:bg>
    <p:spTree>
      <p:nvGrpSpPr>
        <p:cNvPr id="1" name="Shape 448"/>
        <p:cNvGrpSpPr/>
        <p:nvPr/>
      </p:nvGrpSpPr>
      <p:grpSpPr>
        <a:xfrm>
          <a:off x="0" y="0"/>
          <a:ext cx="0" cy="0"/>
          <a:chOff x="0" y="0"/>
          <a:chExt cx="0" cy="0"/>
        </a:xfrm>
      </p:grpSpPr>
      <p:pic>
        <p:nvPicPr>
          <p:cNvPr id="449" name="Google Shape;449;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50" name="Google Shape;450;p34"/>
          <p:cNvSpPr/>
          <p:nvPr/>
        </p:nvSpPr>
        <p:spPr>
          <a:xfrm>
            <a:off x="666750" y="2508795"/>
            <a:ext cx="10858500" cy="942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1" name="Google Shape;451;p34"/>
          <p:cNvSpPr/>
          <p:nvPr/>
        </p:nvSpPr>
        <p:spPr>
          <a:xfrm>
            <a:off x="666750" y="3451770"/>
            <a:ext cx="10858500" cy="77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2" name="Google Shape;452;p34"/>
          <p:cNvSpPr/>
          <p:nvPr/>
        </p:nvSpPr>
        <p:spPr>
          <a:xfrm>
            <a:off x="666750" y="3442245"/>
            <a:ext cx="10858500" cy="9600"/>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3" name="Google Shape;453;p34"/>
          <p:cNvSpPr/>
          <p:nvPr/>
        </p:nvSpPr>
        <p:spPr>
          <a:xfrm>
            <a:off x="666750" y="3442245"/>
            <a:ext cx="10858500" cy="9600"/>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4" name="Google Shape;454;p34"/>
          <p:cNvSpPr/>
          <p:nvPr/>
        </p:nvSpPr>
        <p:spPr>
          <a:xfrm>
            <a:off x="666750" y="4213770"/>
            <a:ext cx="10858500" cy="9600"/>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5" name="Google Shape;455;p34"/>
          <p:cNvSpPr/>
          <p:nvPr/>
        </p:nvSpPr>
        <p:spPr>
          <a:xfrm>
            <a:off x="666750" y="4213770"/>
            <a:ext cx="10858500" cy="9600"/>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56" name="Google Shape;456;p34" descr="image.png"/>
          <p:cNvPicPr preferRelativeResize="0"/>
          <p:nvPr/>
        </p:nvPicPr>
        <p:blipFill rotWithShape="1">
          <a:blip r:embed="rId4">
            <a:alphaModFix/>
          </a:blip>
          <a:srcRect/>
          <a:stretch/>
        </p:blipFill>
        <p:spPr>
          <a:xfrm>
            <a:off x="666750" y="2737395"/>
            <a:ext cx="857250" cy="476250"/>
          </a:xfrm>
          <a:prstGeom prst="rect">
            <a:avLst/>
          </a:prstGeom>
          <a:noFill/>
          <a:ln>
            <a:noFill/>
          </a:ln>
        </p:spPr>
      </p:pic>
      <p:sp>
        <p:nvSpPr>
          <p:cNvPr id="457" name="Google Shape;457;p34"/>
          <p:cNvSpPr txBox="1"/>
          <p:nvPr/>
        </p:nvSpPr>
        <p:spPr>
          <a:xfrm>
            <a:off x="1762125" y="2651670"/>
            <a:ext cx="9763200" cy="375000"/>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2C4A3F"/>
                </a:solidFill>
                <a:latin typeface="Lato"/>
                <a:ea typeface="Lato"/>
                <a:cs typeface="Lato"/>
                <a:sym typeface="Lato"/>
              </a:rPr>
              <a:t>https://media.istockphoto.com/id/1309221065/photo/indian-farmer-using-smartphone-in-green-agriculture-field.jpg?s=612x612&amp;w=0&amp;k=20&amp;c=Uhk4blzNn4XoKwgk2FtU7gvlfvggwRnqjxNIPhgplDc=</a:t>
            </a:r>
            <a:endParaRPr/>
          </a:p>
        </p:txBody>
      </p:sp>
      <p:sp>
        <p:nvSpPr>
          <p:cNvPr id="458" name="Google Shape;458;p34"/>
          <p:cNvSpPr txBox="1"/>
          <p:nvPr/>
        </p:nvSpPr>
        <p:spPr>
          <a:xfrm>
            <a:off x="1762125" y="3070770"/>
            <a:ext cx="9763200" cy="184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4A3F"/>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www.istockphoto.com</a:t>
            </a:r>
            <a:endParaRPr/>
          </a:p>
        </p:txBody>
      </p:sp>
      <p:pic>
        <p:nvPicPr>
          <p:cNvPr id="459" name="Google Shape;459;p34" descr="image.png"/>
          <p:cNvPicPr preferRelativeResize="0"/>
          <p:nvPr/>
        </p:nvPicPr>
        <p:blipFill rotWithShape="1">
          <a:blip r:embed="rId5">
            <a:alphaModFix/>
          </a:blip>
          <a:srcRect/>
          <a:stretch/>
        </p:blipFill>
        <p:spPr>
          <a:xfrm>
            <a:off x="666750" y="3594645"/>
            <a:ext cx="857250" cy="476250"/>
          </a:xfrm>
          <a:prstGeom prst="rect">
            <a:avLst/>
          </a:prstGeom>
          <a:noFill/>
          <a:ln>
            <a:noFill/>
          </a:ln>
        </p:spPr>
      </p:pic>
      <p:sp>
        <p:nvSpPr>
          <p:cNvPr id="460" name="Google Shape;460;p34"/>
          <p:cNvSpPr txBox="1"/>
          <p:nvPr/>
        </p:nvSpPr>
        <p:spPr>
          <a:xfrm>
            <a:off x="1762125" y="3601789"/>
            <a:ext cx="9763200" cy="150000"/>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2C4A3F"/>
                </a:solidFill>
                <a:latin typeface="Lato"/>
                <a:ea typeface="Lato"/>
                <a:cs typeface="Lato"/>
                <a:sym typeface="Lato"/>
              </a:rPr>
              <a:t>https://www.gfdl.noaa.gov/wp-content/uploads/2018/10/GFDL_03.FLOR_.jpg</a:t>
            </a:r>
            <a:endParaRPr/>
          </a:p>
        </p:txBody>
      </p:sp>
      <p:sp>
        <p:nvSpPr>
          <p:cNvPr id="461" name="Google Shape;461;p34"/>
          <p:cNvSpPr txBox="1"/>
          <p:nvPr/>
        </p:nvSpPr>
        <p:spPr>
          <a:xfrm>
            <a:off x="1762125" y="3835151"/>
            <a:ext cx="9763200" cy="184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4A3F"/>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www.gfdl.noaa.gov</a:t>
            </a:r>
            <a:endParaRPr/>
          </a:p>
        </p:txBody>
      </p:sp>
      <p:pic>
        <p:nvPicPr>
          <p:cNvPr id="462" name="Google Shape;462;p34" descr="image.png"/>
          <p:cNvPicPr preferRelativeResize="0"/>
          <p:nvPr/>
        </p:nvPicPr>
        <p:blipFill rotWithShape="1">
          <a:blip r:embed="rId6">
            <a:alphaModFix/>
          </a:blip>
          <a:srcRect/>
          <a:stretch/>
        </p:blipFill>
        <p:spPr>
          <a:xfrm>
            <a:off x="666750" y="4366170"/>
            <a:ext cx="857250" cy="476250"/>
          </a:xfrm>
          <a:prstGeom prst="rect">
            <a:avLst/>
          </a:prstGeom>
          <a:noFill/>
          <a:ln>
            <a:noFill/>
          </a:ln>
        </p:spPr>
      </p:pic>
      <p:sp>
        <p:nvSpPr>
          <p:cNvPr id="463" name="Google Shape;463;p34"/>
          <p:cNvSpPr txBox="1"/>
          <p:nvPr/>
        </p:nvSpPr>
        <p:spPr>
          <a:xfrm>
            <a:off x="1762125" y="4373314"/>
            <a:ext cx="9763200" cy="150000"/>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2C4A3F"/>
                </a:solidFill>
                <a:latin typeface="Lato"/>
                <a:ea typeface="Lato"/>
                <a:cs typeface="Lato"/>
                <a:sym typeface="Lato"/>
              </a:rPr>
              <a:t>https://cdn.dribbble.com/userupload/47230578/file/ce14ed45ae09147694c2a61599becc31.png?crop=0x0-1600x1200&amp;format=webp&amp;resize=400x300&amp;vertical=center</a:t>
            </a:r>
            <a:endParaRPr/>
          </a:p>
        </p:txBody>
      </p:sp>
      <p:sp>
        <p:nvSpPr>
          <p:cNvPr id="464" name="Google Shape;464;p34"/>
          <p:cNvSpPr txBox="1"/>
          <p:nvPr/>
        </p:nvSpPr>
        <p:spPr>
          <a:xfrm>
            <a:off x="1762125" y="4606676"/>
            <a:ext cx="9763200" cy="184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4A3F"/>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dribbble.com</a:t>
            </a:r>
            <a:endParaRPr/>
          </a:p>
        </p:txBody>
      </p:sp>
      <p:sp>
        <p:nvSpPr>
          <p:cNvPr id="465" name="Google Shape;465;p34"/>
          <p:cNvSpPr txBox="1"/>
          <p:nvPr/>
        </p:nvSpPr>
        <p:spPr>
          <a:xfrm>
            <a:off x="809625" y="476250"/>
            <a:ext cx="11251500" cy="438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1" i="0" u="none" strike="noStrike" cap="none">
                <a:solidFill>
                  <a:srgbClr val="0E3A2F"/>
                </a:solidFill>
                <a:latin typeface="Poppins"/>
                <a:ea typeface="Poppins"/>
                <a:cs typeface="Poppins"/>
                <a:sym typeface="Poppins"/>
              </a:rPr>
              <a:t>Image Sources</a:t>
            </a:r>
            <a:endParaRPr/>
          </a:p>
        </p:txBody>
      </p:sp>
      <p:sp>
        <p:nvSpPr>
          <p:cNvPr id="466" name="Google Shape;466;p34"/>
          <p:cNvSpPr/>
          <p:nvPr/>
        </p:nvSpPr>
        <p:spPr>
          <a:xfrm>
            <a:off x="666750" y="476250"/>
            <a:ext cx="57300" cy="3981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1703</Words>
  <Application>Microsoft Office PowerPoint</Application>
  <PresentationFormat>Widescreen</PresentationFormat>
  <Paragraphs>153</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Lato</vt:lpstr>
      <vt:lpstr>Poppins SemiBold</vt:lpstr>
      <vt:lpstr>Poppins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nuthakki bindhu</cp:lastModifiedBy>
  <cp:revision>14</cp:revision>
  <dcterms:modified xsi:type="dcterms:W3CDTF">2026-06-23T07:41:54Z</dcterms:modified>
</cp:coreProperties>
</file>